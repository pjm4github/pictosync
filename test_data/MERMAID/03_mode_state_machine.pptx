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6238538" cy="9134475"/>
  <p:notesSz cx="6858000" cy="9144000"/>
  <p:defaultTextStyle>
    <a:defPPr>
      <a:defRPr lang="en-US"/>
    </a:defPPr>
    <a:lvl1pPr marL="0" algn="l" defTabSz="244053" rtl="0" eaLnBrk="1" latinLnBrk="0" hangingPunct="1">
      <a:defRPr sz="961" kern="1200">
        <a:solidFill>
          <a:schemeClr val="tx1"/>
        </a:solidFill>
        <a:latin typeface="+mn-lt"/>
        <a:ea typeface="+mn-ea"/>
        <a:cs typeface="+mn-cs"/>
      </a:defRPr>
    </a:lvl1pPr>
    <a:lvl2pPr marL="244053" algn="l" defTabSz="244053" rtl="0" eaLnBrk="1" latinLnBrk="0" hangingPunct="1">
      <a:defRPr sz="961" kern="1200">
        <a:solidFill>
          <a:schemeClr val="tx1"/>
        </a:solidFill>
        <a:latin typeface="+mn-lt"/>
        <a:ea typeface="+mn-ea"/>
        <a:cs typeface="+mn-cs"/>
      </a:defRPr>
    </a:lvl2pPr>
    <a:lvl3pPr marL="488107" algn="l" defTabSz="244053" rtl="0" eaLnBrk="1" latinLnBrk="0" hangingPunct="1">
      <a:defRPr sz="961" kern="1200">
        <a:solidFill>
          <a:schemeClr val="tx1"/>
        </a:solidFill>
        <a:latin typeface="+mn-lt"/>
        <a:ea typeface="+mn-ea"/>
        <a:cs typeface="+mn-cs"/>
      </a:defRPr>
    </a:lvl3pPr>
    <a:lvl4pPr marL="732160" algn="l" defTabSz="244053" rtl="0" eaLnBrk="1" latinLnBrk="0" hangingPunct="1">
      <a:defRPr sz="961" kern="1200">
        <a:solidFill>
          <a:schemeClr val="tx1"/>
        </a:solidFill>
        <a:latin typeface="+mn-lt"/>
        <a:ea typeface="+mn-ea"/>
        <a:cs typeface="+mn-cs"/>
      </a:defRPr>
    </a:lvl4pPr>
    <a:lvl5pPr marL="976213" algn="l" defTabSz="244053" rtl="0" eaLnBrk="1" latinLnBrk="0" hangingPunct="1">
      <a:defRPr sz="961" kern="1200">
        <a:solidFill>
          <a:schemeClr val="tx1"/>
        </a:solidFill>
        <a:latin typeface="+mn-lt"/>
        <a:ea typeface="+mn-ea"/>
        <a:cs typeface="+mn-cs"/>
      </a:defRPr>
    </a:lvl5pPr>
    <a:lvl6pPr marL="1220267" algn="l" defTabSz="244053" rtl="0" eaLnBrk="1" latinLnBrk="0" hangingPunct="1">
      <a:defRPr sz="961" kern="1200">
        <a:solidFill>
          <a:schemeClr val="tx1"/>
        </a:solidFill>
        <a:latin typeface="+mn-lt"/>
        <a:ea typeface="+mn-ea"/>
        <a:cs typeface="+mn-cs"/>
      </a:defRPr>
    </a:lvl6pPr>
    <a:lvl7pPr marL="1464320" algn="l" defTabSz="244053" rtl="0" eaLnBrk="1" latinLnBrk="0" hangingPunct="1">
      <a:defRPr sz="961" kern="1200">
        <a:solidFill>
          <a:schemeClr val="tx1"/>
        </a:solidFill>
        <a:latin typeface="+mn-lt"/>
        <a:ea typeface="+mn-ea"/>
        <a:cs typeface="+mn-cs"/>
      </a:defRPr>
    </a:lvl7pPr>
    <a:lvl8pPr marL="1708374" algn="l" defTabSz="244053" rtl="0" eaLnBrk="1" latinLnBrk="0" hangingPunct="1">
      <a:defRPr sz="961" kern="1200">
        <a:solidFill>
          <a:schemeClr val="tx1"/>
        </a:solidFill>
        <a:latin typeface="+mn-lt"/>
        <a:ea typeface="+mn-ea"/>
        <a:cs typeface="+mn-cs"/>
      </a:defRPr>
    </a:lvl8pPr>
    <a:lvl9pPr marL="1952427" algn="l" defTabSz="244053" rtl="0" eaLnBrk="1" latinLnBrk="0" hangingPunct="1">
      <a:defRPr sz="96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73" userDrawn="1">
          <p15:clr>
            <a:srgbClr val="A4A3A4"/>
          </p15:clr>
        </p15:guide>
        <p15:guide id="2" pos="14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CD"/>
    <a:srgbClr val="ECECFF"/>
    <a:srgbClr val="937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36" y="378"/>
      </p:cViewPr>
      <p:guideLst>
        <p:guide orient="horz" pos="1373"/>
        <p:guide pos="148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120" y="1353930"/>
            <a:ext cx="4002007" cy="9342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238" y="2469760"/>
            <a:ext cx="3295771" cy="111381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70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408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11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81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52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225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92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63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921" y="2800675"/>
            <a:ext cx="4002007" cy="865626"/>
          </a:xfrm>
        </p:spPr>
        <p:txBody>
          <a:bodyPr anchor="t"/>
          <a:lstStyle>
            <a:lvl1pPr algn="l">
              <a:defRPr sz="324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921" y="1847276"/>
            <a:ext cx="4002007" cy="953399"/>
          </a:xfrm>
        </p:spPr>
        <p:txBody>
          <a:bodyPr anchor="b"/>
          <a:lstStyle>
            <a:lvl1pPr marL="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1pPr>
            <a:lvl2pPr marL="370423" indent="0">
              <a:buNone/>
              <a:defRPr sz="1458">
                <a:solidFill>
                  <a:schemeClr val="tx1">
                    <a:tint val="75000"/>
                  </a:schemeClr>
                </a:solidFill>
              </a:defRPr>
            </a:lvl2pPr>
            <a:lvl3pPr marL="740847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3pPr>
            <a:lvl4pPr marL="111127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481694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852117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22225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592964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9633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5413" y="1016961"/>
            <a:ext cx="2079475" cy="2876341"/>
          </a:xfrm>
        </p:spPr>
        <p:txBody>
          <a:bodyPr/>
          <a:lstStyle>
            <a:lvl1pPr>
              <a:defRPr sz="2269"/>
            </a:lvl1pPr>
            <a:lvl2pPr>
              <a:defRPr sz="1944"/>
            </a:lvl2pPr>
            <a:lvl3pPr>
              <a:defRPr sz="1620"/>
            </a:lvl3pPr>
            <a:lvl4pPr>
              <a:defRPr sz="1458"/>
            </a:lvl4pPr>
            <a:lvl5pPr>
              <a:defRPr sz="1458"/>
            </a:lvl5pPr>
            <a:lvl6pPr>
              <a:defRPr sz="1458"/>
            </a:lvl6pPr>
            <a:lvl7pPr>
              <a:defRPr sz="1458"/>
            </a:lvl7pPr>
            <a:lvl8pPr>
              <a:defRPr sz="1458"/>
            </a:lvl8pPr>
            <a:lvl9pPr>
              <a:defRPr sz="145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93357" y="1016961"/>
            <a:ext cx="2079475" cy="2876341"/>
          </a:xfrm>
        </p:spPr>
        <p:txBody>
          <a:bodyPr/>
          <a:lstStyle>
            <a:lvl1pPr>
              <a:defRPr sz="2269"/>
            </a:lvl1pPr>
            <a:lvl2pPr>
              <a:defRPr sz="1944"/>
            </a:lvl2pPr>
            <a:lvl3pPr>
              <a:defRPr sz="1620"/>
            </a:lvl3pPr>
            <a:lvl4pPr>
              <a:defRPr sz="1458"/>
            </a:lvl4pPr>
            <a:lvl5pPr>
              <a:defRPr sz="1458"/>
            </a:lvl5pPr>
            <a:lvl6pPr>
              <a:defRPr sz="1458"/>
            </a:lvl6pPr>
            <a:lvl7pPr>
              <a:defRPr sz="1458"/>
            </a:lvl7pPr>
            <a:lvl8pPr>
              <a:defRPr sz="1458"/>
            </a:lvl8pPr>
            <a:lvl9pPr>
              <a:defRPr sz="145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5412" y="975595"/>
            <a:ext cx="2080292" cy="406582"/>
          </a:xfrm>
        </p:spPr>
        <p:txBody>
          <a:bodyPr anchor="b"/>
          <a:lstStyle>
            <a:lvl1pPr marL="0" indent="0">
              <a:buNone/>
              <a:defRPr sz="1944" b="1"/>
            </a:lvl1pPr>
            <a:lvl2pPr marL="370423" indent="0">
              <a:buNone/>
              <a:defRPr sz="1620" b="1"/>
            </a:lvl2pPr>
            <a:lvl3pPr marL="740847" indent="0">
              <a:buNone/>
              <a:defRPr sz="1458" b="1"/>
            </a:lvl3pPr>
            <a:lvl4pPr marL="1111270" indent="0">
              <a:buNone/>
              <a:defRPr sz="1296" b="1"/>
            </a:lvl4pPr>
            <a:lvl5pPr marL="1481694" indent="0">
              <a:buNone/>
              <a:defRPr sz="1296" b="1"/>
            </a:lvl5pPr>
            <a:lvl6pPr marL="1852117" indent="0">
              <a:buNone/>
              <a:defRPr sz="1296" b="1"/>
            </a:lvl6pPr>
            <a:lvl7pPr marL="2222541" indent="0">
              <a:buNone/>
              <a:defRPr sz="1296" b="1"/>
            </a:lvl7pPr>
            <a:lvl8pPr marL="2592964" indent="0">
              <a:buNone/>
              <a:defRPr sz="1296" b="1"/>
            </a:lvl8pPr>
            <a:lvl9pPr marL="2963388" indent="0">
              <a:buNone/>
              <a:defRPr sz="1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5412" y="1382178"/>
            <a:ext cx="2080292" cy="2511123"/>
          </a:xfrm>
        </p:spPr>
        <p:txBody>
          <a:bodyPr/>
          <a:lstStyle>
            <a:lvl1pPr>
              <a:defRPr sz="1944"/>
            </a:lvl1pPr>
            <a:lvl2pPr>
              <a:defRPr sz="1620"/>
            </a:lvl2pPr>
            <a:lvl3pPr>
              <a:defRPr sz="1458"/>
            </a:lvl3pPr>
            <a:lvl4pPr>
              <a:defRPr sz="1296"/>
            </a:lvl4pPr>
            <a:lvl5pPr>
              <a:defRPr sz="1296"/>
            </a:lvl5pPr>
            <a:lvl6pPr>
              <a:defRPr sz="1296"/>
            </a:lvl6pPr>
            <a:lvl7pPr>
              <a:defRPr sz="1296"/>
            </a:lvl7pPr>
            <a:lvl8pPr>
              <a:defRPr sz="1296"/>
            </a:lvl8pPr>
            <a:lvl9pPr>
              <a:defRPr sz="12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91724" y="975595"/>
            <a:ext cx="2081110" cy="406582"/>
          </a:xfrm>
        </p:spPr>
        <p:txBody>
          <a:bodyPr anchor="b"/>
          <a:lstStyle>
            <a:lvl1pPr marL="0" indent="0">
              <a:buNone/>
              <a:defRPr sz="1944" b="1"/>
            </a:lvl1pPr>
            <a:lvl2pPr marL="370423" indent="0">
              <a:buNone/>
              <a:defRPr sz="1620" b="1"/>
            </a:lvl2pPr>
            <a:lvl3pPr marL="740847" indent="0">
              <a:buNone/>
              <a:defRPr sz="1458" b="1"/>
            </a:lvl3pPr>
            <a:lvl4pPr marL="1111270" indent="0">
              <a:buNone/>
              <a:defRPr sz="1296" b="1"/>
            </a:lvl4pPr>
            <a:lvl5pPr marL="1481694" indent="0">
              <a:buNone/>
              <a:defRPr sz="1296" b="1"/>
            </a:lvl5pPr>
            <a:lvl6pPr marL="1852117" indent="0">
              <a:buNone/>
              <a:defRPr sz="1296" b="1"/>
            </a:lvl6pPr>
            <a:lvl7pPr marL="2222541" indent="0">
              <a:buNone/>
              <a:defRPr sz="1296" b="1"/>
            </a:lvl7pPr>
            <a:lvl8pPr marL="2592964" indent="0">
              <a:buNone/>
              <a:defRPr sz="1296" b="1"/>
            </a:lvl8pPr>
            <a:lvl9pPr marL="2963388" indent="0">
              <a:buNone/>
              <a:defRPr sz="1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91724" y="1382178"/>
            <a:ext cx="2081110" cy="2511123"/>
          </a:xfrm>
        </p:spPr>
        <p:txBody>
          <a:bodyPr/>
          <a:lstStyle>
            <a:lvl1pPr>
              <a:defRPr sz="1944"/>
            </a:lvl1pPr>
            <a:lvl2pPr>
              <a:defRPr sz="1620"/>
            </a:lvl2pPr>
            <a:lvl3pPr>
              <a:defRPr sz="1458"/>
            </a:lvl3pPr>
            <a:lvl4pPr>
              <a:defRPr sz="1296"/>
            </a:lvl4pPr>
            <a:lvl5pPr>
              <a:defRPr sz="1296"/>
            </a:lvl5pPr>
            <a:lvl6pPr>
              <a:defRPr sz="1296"/>
            </a:lvl6pPr>
            <a:lvl7pPr>
              <a:defRPr sz="1296"/>
            </a:lvl7pPr>
            <a:lvl8pPr>
              <a:defRPr sz="1296"/>
            </a:lvl8pPr>
            <a:lvl9pPr>
              <a:defRPr sz="12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413" y="173529"/>
            <a:ext cx="1548980" cy="738506"/>
          </a:xfrm>
        </p:spPr>
        <p:txBody>
          <a:bodyPr anchor="b"/>
          <a:lstStyle>
            <a:lvl1pPr algn="l">
              <a:defRPr sz="162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0792" y="173530"/>
            <a:ext cx="2632040" cy="3719772"/>
          </a:xfrm>
        </p:spPr>
        <p:txBody>
          <a:bodyPr/>
          <a:lstStyle>
            <a:lvl1pPr>
              <a:defRPr sz="2593"/>
            </a:lvl1pPr>
            <a:lvl2pPr>
              <a:defRPr sz="2269"/>
            </a:lvl2pPr>
            <a:lvl3pPr>
              <a:defRPr sz="1944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413" y="912037"/>
            <a:ext cx="1548980" cy="2981265"/>
          </a:xfrm>
        </p:spPr>
        <p:txBody>
          <a:bodyPr/>
          <a:lstStyle>
            <a:lvl1pPr marL="0" indent="0">
              <a:buNone/>
              <a:defRPr sz="1134"/>
            </a:lvl1pPr>
            <a:lvl2pPr marL="370423" indent="0">
              <a:buNone/>
              <a:defRPr sz="972"/>
            </a:lvl2pPr>
            <a:lvl3pPr marL="740847" indent="0">
              <a:buNone/>
              <a:defRPr sz="810"/>
            </a:lvl3pPr>
            <a:lvl4pPr marL="1111270" indent="0">
              <a:buNone/>
              <a:defRPr sz="729"/>
            </a:lvl4pPr>
            <a:lvl5pPr marL="1481694" indent="0">
              <a:buNone/>
              <a:defRPr sz="729"/>
            </a:lvl5pPr>
            <a:lvl6pPr marL="1852117" indent="0">
              <a:buNone/>
              <a:defRPr sz="729"/>
            </a:lvl6pPr>
            <a:lvl7pPr marL="2222541" indent="0">
              <a:buNone/>
              <a:defRPr sz="729"/>
            </a:lvl7pPr>
            <a:lvl8pPr marL="2592964" indent="0">
              <a:buNone/>
              <a:defRPr sz="729"/>
            </a:lvl8pPr>
            <a:lvl9pPr marL="2963388" indent="0">
              <a:buNone/>
              <a:defRPr sz="7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849" y="3050880"/>
            <a:ext cx="2824947" cy="360173"/>
          </a:xfrm>
        </p:spPr>
        <p:txBody>
          <a:bodyPr anchor="b"/>
          <a:lstStyle>
            <a:lvl1pPr algn="l">
              <a:defRPr sz="162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22849" y="389432"/>
            <a:ext cx="2824947" cy="2615039"/>
          </a:xfrm>
        </p:spPr>
        <p:txBody>
          <a:bodyPr/>
          <a:lstStyle>
            <a:lvl1pPr marL="0" indent="0">
              <a:buNone/>
              <a:defRPr sz="2593"/>
            </a:lvl1pPr>
            <a:lvl2pPr marL="370423" indent="0">
              <a:buNone/>
              <a:defRPr sz="2269"/>
            </a:lvl2pPr>
            <a:lvl3pPr marL="740847" indent="0">
              <a:buNone/>
              <a:defRPr sz="1944"/>
            </a:lvl3pPr>
            <a:lvl4pPr marL="1111270" indent="0">
              <a:buNone/>
              <a:defRPr sz="1620"/>
            </a:lvl4pPr>
            <a:lvl5pPr marL="1481694" indent="0">
              <a:buNone/>
              <a:defRPr sz="1620"/>
            </a:lvl5pPr>
            <a:lvl6pPr marL="1852117" indent="0">
              <a:buNone/>
              <a:defRPr sz="1620"/>
            </a:lvl6pPr>
            <a:lvl7pPr marL="2222541" indent="0">
              <a:buNone/>
              <a:defRPr sz="1620"/>
            </a:lvl7pPr>
            <a:lvl8pPr marL="2592964" indent="0">
              <a:buNone/>
              <a:defRPr sz="1620"/>
            </a:lvl8pPr>
            <a:lvl9pPr marL="2963388" indent="0">
              <a:buNone/>
              <a:defRPr sz="162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2849" y="3411052"/>
            <a:ext cx="2824947" cy="511506"/>
          </a:xfrm>
        </p:spPr>
        <p:txBody>
          <a:bodyPr/>
          <a:lstStyle>
            <a:lvl1pPr marL="0" indent="0">
              <a:buNone/>
              <a:defRPr sz="1134"/>
            </a:lvl1pPr>
            <a:lvl2pPr marL="370423" indent="0">
              <a:buNone/>
              <a:defRPr sz="972"/>
            </a:lvl2pPr>
            <a:lvl3pPr marL="740847" indent="0">
              <a:buNone/>
              <a:defRPr sz="810"/>
            </a:lvl3pPr>
            <a:lvl4pPr marL="1111270" indent="0">
              <a:buNone/>
              <a:defRPr sz="729"/>
            </a:lvl4pPr>
            <a:lvl5pPr marL="1481694" indent="0">
              <a:buNone/>
              <a:defRPr sz="729"/>
            </a:lvl5pPr>
            <a:lvl6pPr marL="1852117" indent="0">
              <a:buNone/>
              <a:defRPr sz="729"/>
            </a:lvl6pPr>
            <a:lvl7pPr marL="2222541" indent="0">
              <a:buNone/>
              <a:defRPr sz="729"/>
            </a:lvl7pPr>
            <a:lvl8pPr marL="2592964" indent="0">
              <a:buNone/>
              <a:defRPr sz="729"/>
            </a:lvl8pPr>
            <a:lvl9pPr marL="2963388" indent="0">
              <a:buNone/>
              <a:defRPr sz="7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13477" y="174539"/>
            <a:ext cx="1059355" cy="3718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5413" y="174539"/>
            <a:ext cx="3099594" cy="3718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5413" y="174538"/>
            <a:ext cx="4237419" cy="726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5413" y="1016961"/>
            <a:ext cx="4237419" cy="2876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5412" y="4039590"/>
            <a:ext cx="1098591" cy="2320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8651" y="4039590"/>
            <a:ext cx="1490945" cy="2320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74241" y="4039590"/>
            <a:ext cx="1098591" cy="2320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70423" rtl="0" eaLnBrk="1" latinLnBrk="0" hangingPunct="1">
        <a:spcBef>
          <a:spcPct val="0"/>
        </a:spcBef>
        <a:buNone/>
        <a:defRPr sz="35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7818" indent="-277818" algn="l" defTabSz="370423" rtl="0" eaLnBrk="1" latinLnBrk="0" hangingPunct="1">
        <a:spcBef>
          <a:spcPct val="20000"/>
        </a:spcBef>
        <a:buFont typeface="Arial"/>
        <a:buChar char="•"/>
        <a:defRPr sz="2593" kern="1200">
          <a:solidFill>
            <a:schemeClr val="tx1"/>
          </a:solidFill>
          <a:latin typeface="+mn-lt"/>
          <a:ea typeface="+mn-ea"/>
          <a:cs typeface="+mn-cs"/>
        </a:defRPr>
      </a:lvl1pPr>
      <a:lvl2pPr marL="601938" indent="-231515" algn="l" defTabSz="370423" rtl="0" eaLnBrk="1" latinLnBrk="0" hangingPunct="1">
        <a:spcBef>
          <a:spcPct val="20000"/>
        </a:spcBef>
        <a:buFont typeface="Arial"/>
        <a:buChar char="–"/>
        <a:defRPr sz="2269" kern="1200">
          <a:solidFill>
            <a:schemeClr val="tx1"/>
          </a:solidFill>
          <a:latin typeface="+mn-lt"/>
          <a:ea typeface="+mn-ea"/>
          <a:cs typeface="+mn-cs"/>
        </a:defRPr>
      </a:lvl2pPr>
      <a:lvl3pPr marL="926059" indent="-185212" algn="l" defTabSz="370423" rtl="0" eaLnBrk="1" latinLnBrk="0" hangingPunct="1">
        <a:spcBef>
          <a:spcPct val="20000"/>
        </a:spcBef>
        <a:buFont typeface="Arial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296482" indent="-185212" algn="l" defTabSz="370423" rtl="0" eaLnBrk="1" latinLnBrk="0" hangingPunct="1">
        <a:spcBef>
          <a:spcPct val="20000"/>
        </a:spcBef>
        <a:buFont typeface="Arial"/>
        <a:buChar char="–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66905" indent="-185212" algn="l" defTabSz="370423" rtl="0" eaLnBrk="1" latinLnBrk="0" hangingPunct="1">
        <a:spcBef>
          <a:spcPct val="20000"/>
        </a:spcBef>
        <a:buFont typeface="Arial"/>
        <a:buChar char="»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37329" indent="-185212" algn="l" defTabSz="370423" rtl="0" eaLnBrk="1" latinLnBrk="0" hangingPunct="1">
        <a:spcBef>
          <a:spcPct val="2000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07752" indent="-185212" algn="l" defTabSz="370423" rtl="0" eaLnBrk="1" latinLnBrk="0" hangingPunct="1">
        <a:spcBef>
          <a:spcPct val="2000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778176" indent="-185212" algn="l" defTabSz="370423" rtl="0" eaLnBrk="1" latinLnBrk="0" hangingPunct="1">
        <a:spcBef>
          <a:spcPct val="2000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148599" indent="-185212" algn="l" defTabSz="370423" rtl="0" eaLnBrk="1" latinLnBrk="0" hangingPunct="1">
        <a:spcBef>
          <a:spcPct val="2000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0423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1pPr>
      <a:lvl2pPr marL="370423" algn="l" defTabSz="370423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2pPr>
      <a:lvl3pPr marL="740847" algn="l" defTabSz="370423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3pPr>
      <a:lvl4pPr marL="1111270" algn="l" defTabSz="370423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4pPr>
      <a:lvl5pPr marL="1481694" algn="l" defTabSz="370423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5pPr>
      <a:lvl6pPr marL="1852117" algn="l" defTabSz="370423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6pPr>
      <a:lvl7pPr marL="2222541" algn="l" defTabSz="370423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7pPr>
      <a:lvl8pPr marL="2592964" algn="l" defTabSz="370423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8pPr>
      <a:lvl9pPr marL="2963388" algn="l" defTabSz="370423" rtl="0" eaLnBrk="1" latinLnBrk="0" hangingPunct="1">
        <a:defRPr sz="14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 flipV="1">
            <a:off x="1666061" y="1642096"/>
            <a:ext cx="1105155" cy="396447"/>
          </a:xfrm>
          <a:custGeom>
            <a:avLst/>
            <a:gdLst/>
            <a:ahLst/>
            <a:cxnLst/>
            <a:rect l="l" t="t" r="r" b="b"/>
            <a:pathLst>
              <a:path w="2715768" h="219837">
                <a:moveTo>
                  <a:pt x="0" y="219837"/>
                </a:moveTo>
                <a:lnTo>
                  <a:pt x="211015" y="219837"/>
                </a:lnTo>
                <a:cubicBezTo>
                  <a:pt x="422301" y="219837"/>
                  <a:pt x="844603" y="219837"/>
                  <a:pt x="1176470" y="219837"/>
                </a:cubicBezTo>
                <a:cubicBezTo>
                  <a:pt x="1508337" y="219837"/>
                  <a:pt x="1749769" y="219837"/>
                  <a:pt x="1991201" y="183190"/>
                </a:cubicBezTo>
                <a:cubicBezTo>
                  <a:pt x="2232904" y="146565"/>
                  <a:pt x="2474336" y="73293"/>
                  <a:pt x="2594916" y="36646"/>
                </a:cubicBezTo>
                <a:lnTo>
                  <a:pt x="2715768" y="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58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51259" y="1454647"/>
            <a:ext cx="1319957" cy="2419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2" b="1" dirty="0"/>
              <a:t>Manufacturing</a:t>
            </a:r>
          </a:p>
        </p:txBody>
      </p:sp>
      <p:cxnSp>
        <p:nvCxnSpPr>
          <p:cNvPr id="10" name="Connector 9"/>
          <p:cNvCxnSpPr>
            <a:cxnSpLocks/>
            <a:stCxn id="30" idx="2"/>
            <a:endCxn id="31" idx="0"/>
          </p:cNvCxnSpPr>
          <p:nvPr/>
        </p:nvCxnSpPr>
        <p:spPr>
          <a:xfrm>
            <a:off x="2930665" y="2886472"/>
            <a:ext cx="10804" cy="1036604"/>
          </a:xfrm>
          <a:prstGeom prst="line">
            <a:avLst/>
          </a:prstGeom>
          <a:ln w="12700">
            <a:solidFill>
              <a:srgbClr val="33333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20775" y="3000216"/>
            <a:ext cx="2105132" cy="5909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96" b="1" dirty="0" err="1">
                <a:highlight>
                  <a:srgbClr val="ECECFF"/>
                </a:highlight>
              </a:rPr>
              <a:t>commission_to_bootstrap</a:t>
            </a:r>
            <a:r>
              <a:rPr sz="1296" b="1" dirty="0">
                <a:highlight>
                  <a:srgbClr val="ECECFF"/>
                </a:highlight>
              </a:rPr>
              <a:t>()</a:t>
            </a:r>
            <a:r>
              <a:rPr sz="972" b="1" dirty="0"/>
              <a:t>
single-key auth
commissioning engineer</a:t>
            </a:r>
          </a:p>
        </p:txBody>
      </p:sp>
      <p:sp>
        <p:nvSpPr>
          <p:cNvPr id="12" name="Freeform 11"/>
          <p:cNvSpPr/>
          <p:nvPr/>
        </p:nvSpPr>
        <p:spPr>
          <a:xfrm>
            <a:off x="3351921" y="4835761"/>
            <a:ext cx="2394298" cy="691100"/>
          </a:xfrm>
          <a:custGeom>
            <a:avLst/>
            <a:gdLst/>
            <a:ahLst/>
            <a:cxnLst/>
            <a:rect l="l" t="t" r="r" b="b"/>
            <a:pathLst>
              <a:path w="3612451" h="1690687">
                <a:moveTo>
                  <a:pt x="0" y="0"/>
                </a:moveTo>
                <a:lnTo>
                  <a:pt x="268766" y="281837"/>
                </a:lnTo>
                <a:cubicBezTo>
                  <a:pt x="537533" y="563506"/>
                  <a:pt x="1075065" y="1127181"/>
                  <a:pt x="1539265" y="1408849"/>
                </a:cubicBezTo>
                <a:cubicBezTo>
                  <a:pt x="2003104" y="1690687"/>
                  <a:pt x="2393610" y="1690687"/>
                  <a:pt x="2727039" y="1531086"/>
                </a:cubicBezTo>
                <a:cubicBezTo>
                  <a:pt x="3060107" y="1371654"/>
                  <a:pt x="3336460" y="1052452"/>
                  <a:pt x="3474456" y="893021"/>
                </a:cubicBezTo>
                <a:lnTo>
                  <a:pt x="3612451" y="73342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58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92058" y="5146444"/>
            <a:ext cx="2132233" cy="7405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96" b="1" dirty="0" err="1">
                <a:highlight>
                  <a:srgbClr val="ECECFF"/>
                </a:highlight>
              </a:rPr>
              <a:t>seal_for_operations</a:t>
            </a:r>
            <a:r>
              <a:rPr sz="1296" b="1" dirty="0">
                <a:highlight>
                  <a:srgbClr val="ECECFF"/>
                </a:highlight>
              </a:rPr>
              <a:t>()</a:t>
            </a:r>
            <a:r>
              <a:rPr sz="972" b="1" dirty="0"/>
              <a:t>
TWO-KEY auth
cooldown enforced
powers down GPU Platform</a:t>
            </a:r>
          </a:p>
        </p:txBody>
      </p:sp>
      <p:sp>
        <p:nvSpPr>
          <p:cNvPr id="14" name="Freeform 13"/>
          <p:cNvSpPr/>
          <p:nvPr/>
        </p:nvSpPr>
        <p:spPr>
          <a:xfrm>
            <a:off x="3709544" y="3736026"/>
            <a:ext cx="2452598" cy="520927"/>
          </a:xfrm>
          <a:custGeom>
            <a:avLst/>
            <a:gdLst/>
            <a:ahLst/>
            <a:cxnLst/>
            <a:rect l="l" t="t" r="r" b="b"/>
            <a:pathLst>
              <a:path w="3027045" h="642938">
                <a:moveTo>
                  <a:pt x="3027045" y="642938"/>
                </a:moveTo>
                <a:lnTo>
                  <a:pt x="2912926" y="535760"/>
                </a:lnTo>
                <a:cubicBezTo>
                  <a:pt x="2798806" y="428646"/>
                  <a:pt x="2570870" y="214291"/>
                  <a:pt x="2261506" y="107178"/>
                </a:cubicBezTo>
                <a:cubicBezTo>
                  <a:pt x="1952142" y="0"/>
                  <a:pt x="1561955" y="0"/>
                  <a:pt x="1171467" y="74645"/>
                </a:cubicBezTo>
                <a:cubicBezTo>
                  <a:pt x="780978" y="149226"/>
                  <a:pt x="390489" y="298516"/>
                  <a:pt x="195245" y="373097"/>
                </a:cubicBezTo>
                <a:lnTo>
                  <a:pt x="0" y="447742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58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15476" y="3050259"/>
            <a:ext cx="2156686" cy="7405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96" b="1" dirty="0" err="1">
                <a:highlight>
                  <a:srgbClr val="ECECFF"/>
                </a:highlight>
              </a:rPr>
              <a:t>open_bootstrap_window</a:t>
            </a:r>
            <a:r>
              <a:rPr sz="1296" b="1" dirty="0">
                <a:highlight>
                  <a:srgbClr val="ECECFF"/>
                </a:highlight>
              </a:rPr>
              <a:t>()</a:t>
            </a:r>
            <a:r>
              <a:rPr sz="972" b="1" dirty="0"/>
              <a:t>
TWO-KEY auth
cooldown enforced
powers up GPU Platform</a:t>
            </a:r>
          </a:p>
        </p:txBody>
      </p:sp>
      <p:sp>
        <p:nvSpPr>
          <p:cNvPr id="16" name="Freeform 15"/>
          <p:cNvSpPr/>
          <p:nvPr/>
        </p:nvSpPr>
        <p:spPr>
          <a:xfrm>
            <a:off x="6906411" y="5429999"/>
            <a:ext cx="3131515" cy="2326768"/>
          </a:xfrm>
          <a:custGeom>
            <a:avLst/>
            <a:gdLst>
              <a:gd name="csX0" fmla="*/ 0 w 5195793"/>
              <a:gd name="csY0" fmla="*/ 0 h 6381750"/>
              <a:gd name="csX1" fmla="*/ 217704 w 5195793"/>
              <a:gd name="csY1" fmla="*/ 1063837 h 6381750"/>
              <a:gd name="csX2" fmla="*/ 2497098 w 5195793"/>
              <a:gd name="csY2" fmla="*/ 6381750 h 6381750"/>
              <a:gd name="csX3" fmla="*/ 3740451 w 5195793"/>
              <a:gd name="csY3" fmla="*/ 6086274 h 6381750"/>
              <a:gd name="csX4" fmla="*/ 4944316 w 5195793"/>
              <a:gd name="csY4" fmla="*/ 4905651 h 6381750"/>
              <a:gd name="csX5" fmla="*/ 5195793 w 5195793"/>
              <a:gd name="csY5" fmla="*/ 4610176 h 6381750"/>
              <a:gd name="csX0" fmla="*/ 0 w 5195793"/>
              <a:gd name="csY0" fmla="*/ 0 h 6241695"/>
              <a:gd name="csX1" fmla="*/ 217704 w 5195793"/>
              <a:gd name="csY1" fmla="*/ 1063837 h 6241695"/>
              <a:gd name="csX2" fmla="*/ 3740451 w 5195793"/>
              <a:gd name="csY2" fmla="*/ 6086274 h 6241695"/>
              <a:gd name="csX3" fmla="*/ 4944316 w 5195793"/>
              <a:gd name="csY3" fmla="*/ 4905651 h 6241695"/>
              <a:gd name="csX4" fmla="*/ 5195793 w 5195793"/>
              <a:gd name="csY4" fmla="*/ 4610176 h 6241695"/>
              <a:gd name="csX0" fmla="*/ 0 w 5195793"/>
              <a:gd name="csY0" fmla="*/ 0 h 4905651"/>
              <a:gd name="csX1" fmla="*/ 217704 w 5195793"/>
              <a:gd name="csY1" fmla="*/ 1063837 h 4905651"/>
              <a:gd name="csX2" fmla="*/ 4944316 w 5195793"/>
              <a:gd name="csY2" fmla="*/ 4905651 h 4905651"/>
              <a:gd name="csX3" fmla="*/ 5195793 w 5195793"/>
              <a:gd name="csY3" fmla="*/ 4610176 h 4905651"/>
              <a:gd name="csX0" fmla="*/ 0 w 5195793"/>
              <a:gd name="csY0" fmla="*/ 0 h 4610176"/>
              <a:gd name="csX1" fmla="*/ 217704 w 5195793"/>
              <a:gd name="csY1" fmla="*/ 1063837 h 4610176"/>
              <a:gd name="csX2" fmla="*/ 5195793 w 5195793"/>
              <a:gd name="csY2" fmla="*/ 4610176 h 4610176"/>
              <a:gd name="csX0" fmla="*/ 0 w 5195793"/>
              <a:gd name="csY0" fmla="*/ 0 h 4610176"/>
              <a:gd name="csX1" fmla="*/ 217704 w 5195793"/>
              <a:gd name="csY1" fmla="*/ 1063837 h 4610176"/>
              <a:gd name="csX2" fmla="*/ 5195793 w 5195793"/>
              <a:gd name="csY2" fmla="*/ 4610176 h 4610176"/>
              <a:gd name="csX0" fmla="*/ 0 w 5195793"/>
              <a:gd name="csY0" fmla="*/ 0 h 4610176"/>
              <a:gd name="csX1" fmla="*/ 217704 w 5195793"/>
              <a:gd name="csY1" fmla="*/ 1063837 h 4610176"/>
              <a:gd name="csX2" fmla="*/ 5195793 w 5195793"/>
              <a:gd name="csY2" fmla="*/ 4610176 h 4610176"/>
              <a:gd name="csX0" fmla="*/ 0 w 5195793"/>
              <a:gd name="csY0" fmla="*/ 0 h 4617032"/>
              <a:gd name="csX1" fmla="*/ 217704 w 5195793"/>
              <a:gd name="csY1" fmla="*/ 1063837 h 4617032"/>
              <a:gd name="csX2" fmla="*/ 5195793 w 5195793"/>
              <a:gd name="csY2" fmla="*/ 4610176 h 4617032"/>
              <a:gd name="csX0" fmla="*/ 0 w 5195793"/>
              <a:gd name="csY0" fmla="*/ 0 h 4610176"/>
              <a:gd name="csX1" fmla="*/ 217704 w 5195793"/>
              <a:gd name="csY1" fmla="*/ 1063837 h 4610176"/>
              <a:gd name="csX2" fmla="*/ 3619311 w 5195793"/>
              <a:gd name="csY2" fmla="*/ 2654472 h 4610176"/>
              <a:gd name="csX3" fmla="*/ 5195793 w 5195793"/>
              <a:gd name="csY3" fmla="*/ 4610176 h 4610176"/>
              <a:gd name="csX0" fmla="*/ 0 w 5195793"/>
              <a:gd name="csY0" fmla="*/ 0 h 4610176"/>
              <a:gd name="csX1" fmla="*/ 900430 w 5195793"/>
              <a:gd name="csY1" fmla="*/ 1441286 h 4610176"/>
              <a:gd name="csX2" fmla="*/ 3619311 w 5195793"/>
              <a:gd name="csY2" fmla="*/ 2654472 h 4610176"/>
              <a:gd name="csX3" fmla="*/ 5195793 w 5195793"/>
              <a:gd name="csY3" fmla="*/ 4610176 h 4610176"/>
              <a:gd name="csX0" fmla="*/ 0 w 5195793"/>
              <a:gd name="csY0" fmla="*/ 0 h 4610176"/>
              <a:gd name="csX1" fmla="*/ 900430 w 5195793"/>
              <a:gd name="csY1" fmla="*/ 1441286 h 4610176"/>
              <a:gd name="csX2" fmla="*/ 3619311 w 5195793"/>
              <a:gd name="csY2" fmla="*/ 2654472 h 4610176"/>
              <a:gd name="csX3" fmla="*/ 5195793 w 5195793"/>
              <a:gd name="csY3" fmla="*/ 4610176 h 4610176"/>
              <a:gd name="csX0" fmla="*/ 0 w 5195793"/>
              <a:gd name="csY0" fmla="*/ 0 h 4610176"/>
              <a:gd name="csX1" fmla="*/ 900430 w 5195793"/>
              <a:gd name="csY1" fmla="*/ 1441286 h 4610176"/>
              <a:gd name="csX2" fmla="*/ 3619311 w 5195793"/>
              <a:gd name="csY2" fmla="*/ 2654472 h 4610176"/>
              <a:gd name="csX3" fmla="*/ 5195793 w 5195793"/>
              <a:gd name="csY3" fmla="*/ 4610176 h 4610176"/>
              <a:gd name="csX0" fmla="*/ 0 w 5195793"/>
              <a:gd name="csY0" fmla="*/ 0 h 4610176"/>
              <a:gd name="csX1" fmla="*/ 938359 w 5195793"/>
              <a:gd name="csY1" fmla="*/ 1320502 h 4610176"/>
              <a:gd name="csX2" fmla="*/ 3619311 w 5195793"/>
              <a:gd name="csY2" fmla="*/ 2654472 h 4610176"/>
              <a:gd name="csX3" fmla="*/ 5195793 w 5195793"/>
              <a:gd name="csY3" fmla="*/ 4610176 h 4610176"/>
              <a:gd name="csX0" fmla="*/ 0 w 5195793"/>
              <a:gd name="csY0" fmla="*/ 0 h 4610176"/>
              <a:gd name="csX1" fmla="*/ 938359 w 5195793"/>
              <a:gd name="csY1" fmla="*/ 1320502 h 4610176"/>
              <a:gd name="csX2" fmla="*/ 3619311 w 5195793"/>
              <a:gd name="csY2" fmla="*/ 2654472 h 4610176"/>
              <a:gd name="csX3" fmla="*/ 5195793 w 5195793"/>
              <a:gd name="csY3" fmla="*/ 4610176 h 4610176"/>
              <a:gd name="csX0" fmla="*/ 0 w 5195793"/>
              <a:gd name="csY0" fmla="*/ 0 h 4610176"/>
              <a:gd name="csX1" fmla="*/ 3619311 w 5195793"/>
              <a:gd name="csY1" fmla="*/ 2654472 h 4610176"/>
              <a:gd name="csX2" fmla="*/ 5195793 w 5195793"/>
              <a:gd name="csY2" fmla="*/ 4610176 h 4610176"/>
              <a:gd name="csX0" fmla="*/ 0 w 5195793"/>
              <a:gd name="csY0" fmla="*/ 0 h 4610176"/>
              <a:gd name="csX1" fmla="*/ 2671081 w 5195793"/>
              <a:gd name="csY1" fmla="*/ 2126042 h 4610176"/>
              <a:gd name="csX2" fmla="*/ 5195793 w 5195793"/>
              <a:gd name="csY2" fmla="*/ 4610176 h 4610176"/>
              <a:gd name="csX0" fmla="*/ 0 w 5195793"/>
              <a:gd name="csY0" fmla="*/ 0 h 4610176"/>
              <a:gd name="csX1" fmla="*/ 2671081 w 5195793"/>
              <a:gd name="csY1" fmla="*/ 2126042 h 4610176"/>
              <a:gd name="csX2" fmla="*/ 5195793 w 5195793"/>
              <a:gd name="csY2" fmla="*/ 4610176 h 46101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95793" h="4610176">
                <a:moveTo>
                  <a:pt x="0" y="0"/>
                </a:moveTo>
                <a:cubicBezTo>
                  <a:pt x="185085" y="2591245"/>
                  <a:pt x="1805116" y="1357679"/>
                  <a:pt x="2671081" y="2126042"/>
                </a:cubicBezTo>
                <a:cubicBezTo>
                  <a:pt x="3500762" y="2717098"/>
                  <a:pt x="3693054" y="4587347"/>
                  <a:pt x="5195793" y="4610176"/>
                </a:cubicBezTo>
              </a:path>
            </a:pathLst>
          </a:custGeom>
          <a:noFill/>
          <a:ln w="12700">
            <a:solidFill>
              <a:srgbClr val="333333"/>
            </a:solidFill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58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90482" y="5874994"/>
            <a:ext cx="2621235" cy="890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96" b="1" dirty="0" err="1">
                <a:highlight>
                  <a:srgbClr val="C0C0C0"/>
                </a:highlight>
              </a:rPr>
              <a:t>request_sme_handshake</a:t>
            </a:r>
            <a:r>
              <a:rPr sz="1296" b="1" dirty="0">
                <a:highlight>
                  <a:srgbClr val="C0C0C0"/>
                </a:highlight>
              </a:rPr>
              <a:t>()</a:t>
            </a:r>
            <a:endParaRPr lang="en-US" sz="972" b="1" dirty="0">
              <a:highlight>
                <a:srgbClr val="C0C0C0"/>
              </a:highlight>
            </a:endParaRPr>
          </a:p>
          <a:p>
            <a:pPr marL="138909" indent="-138909">
              <a:buFont typeface="Arial" panose="020B0604020202020204" pitchFamily="34" charset="0"/>
              <a:buChar char="•"/>
            </a:pPr>
            <a:r>
              <a:rPr sz="972" b="1" dirty="0"/>
              <a:t>single-key auth
NO cooldown — armed immediately
powers GPU Platform to L1.2 (pre-warm)
handshake timer resets</a:t>
            </a:r>
          </a:p>
        </p:txBody>
      </p:sp>
      <p:sp>
        <p:nvSpPr>
          <p:cNvPr id="18" name="Freeform 17"/>
          <p:cNvSpPr/>
          <p:nvPr/>
        </p:nvSpPr>
        <p:spPr>
          <a:xfrm>
            <a:off x="13143561" y="6541015"/>
            <a:ext cx="682607" cy="1523348"/>
          </a:xfrm>
          <a:custGeom>
            <a:avLst/>
            <a:gdLst/>
            <a:ahLst/>
            <a:cxnLst/>
            <a:rect l="l" t="t" r="r" b="b"/>
            <a:pathLst>
              <a:path w="2983897" h="1019175">
                <a:moveTo>
                  <a:pt x="0" y="1019175"/>
                </a:moveTo>
                <a:lnTo>
                  <a:pt x="39686" y="1019175"/>
                </a:lnTo>
                <a:cubicBezTo>
                  <a:pt x="79372" y="1019175"/>
                  <a:pt x="158743" y="1019175"/>
                  <a:pt x="396858" y="1019175"/>
                </a:cubicBezTo>
                <a:cubicBezTo>
                  <a:pt x="634973" y="1019175"/>
                  <a:pt x="1031831" y="1019175"/>
                  <a:pt x="1489561" y="849278"/>
                </a:cubicBezTo>
                <a:cubicBezTo>
                  <a:pt x="1946993" y="679483"/>
                  <a:pt x="2465594" y="339691"/>
                  <a:pt x="2724596" y="169896"/>
                </a:cubicBezTo>
                <a:lnTo>
                  <a:pt x="2983897" y="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58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586078" y="7547128"/>
            <a:ext cx="2281517" cy="890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96" b="1" dirty="0" err="1">
                <a:highlight>
                  <a:srgbClr val="ECECFF"/>
                </a:highlight>
              </a:rPr>
              <a:t>sme_accepts_handshake</a:t>
            </a:r>
            <a:r>
              <a:rPr sz="1296" b="1" dirty="0">
                <a:highlight>
                  <a:srgbClr val="ECECFF"/>
                </a:highlight>
              </a:rPr>
              <a:t>()</a:t>
            </a:r>
            <a:endParaRPr lang="en-US" sz="1296" b="1" dirty="0">
              <a:highlight>
                <a:srgbClr val="ECECFF"/>
              </a:highlight>
            </a:endParaRPr>
          </a:p>
          <a:p>
            <a:pPr marL="231515" indent="-231515">
              <a:buFont typeface="Arial" panose="020B0604020202020204" pitchFamily="34" charset="0"/>
              <a:buChar char="•"/>
            </a:pPr>
            <a:r>
              <a:rPr sz="972" b="1" dirty="0"/>
              <a:t>single-key auth, no cooldown
GPU Platform L1.2 → full inference
extra relay protection ON
starts 15-min session timer</a:t>
            </a:r>
          </a:p>
        </p:txBody>
      </p:sp>
      <p:sp>
        <p:nvSpPr>
          <p:cNvPr id="20" name="Freeform 19"/>
          <p:cNvSpPr/>
          <p:nvPr/>
        </p:nvSpPr>
        <p:spPr>
          <a:xfrm>
            <a:off x="7293903" y="5430000"/>
            <a:ext cx="3359396" cy="2562186"/>
          </a:xfrm>
          <a:custGeom>
            <a:avLst/>
            <a:gdLst/>
            <a:ahLst/>
            <a:cxnLst/>
            <a:rect l="l" t="t" r="r" b="b"/>
            <a:pathLst>
              <a:path w="4808792" h="3162300">
                <a:moveTo>
                  <a:pt x="4808792" y="3162300"/>
                </a:moveTo>
                <a:lnTo>
                  <a:pt x="4542385" y="2794840"/>
                </a:lnTo>
                <a:cubicBezTo>
                  <a:pt x="4275497" y="2427381"/>
                  <a:pt x="3742683" y="1692146"/>
                  <a:pt x="3277673" y="1324687"/>
                </a:cubicBezTo>
                <a:cubicBezTo>
                  <a:pt x="2812663" y="957228"/>
                  <a:pt x="2415937" y="957228"/>
                  <a:pt x="2019212" y="957228"/>
                </a:cubicBezTo>
                <a:cubicBezTo>
                  <a:pt x="1622006" y="957228"/>
                  <a:pt x="1225281" y="957228"/>
                  <a:pt x="888665" y="797848"/>
                </a:cubicBezTo>
                <a:cubicBezTo>
                  <a:pt x="552050" y="638152"/>
                  <a:pt x="276025" y="319076"/>
                  <a:pt x="138013" y="159696"/>
                </a:cubicBezTo>
                <a:lnTo>
                  <a:pt x="0" y="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58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37926" y="6218723"/>
            <a:ext cx="2785982" cy="9399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96" b="1" dirty="0" err="1">
                <a:highlight>
                  <a:srgbClr val="ECECFF"/>
                </a:highlight>
              </a:rPr>
              <a:t>cancel_handshake</a:t>
            </a:r>
            <a:r>
              <a:rPr sz="1296" b="1" dirty="0">
                <a:highlight>
                  <a:srgbClr val="ECECFF"/>
                </a:highlight>
              </a:rPr>
              <a:t>() </a:t>
            </a:r>
            <a:r>
              <a:rPr lang="en-US" sz="1296" b="1" dirty="0">
                <a:highlight>
                  <a:srgbClr val="ECECFF"/>
                </a:highlight>
              </a:rPr>
              <a:t>-</a:t>
            </a:r>
            <a:r>
              <a:rPr sz="1296" b="1" dirty="0">
                <a:highlight>
                  <a:srgbClr val="ECECFF"/>
                </a:highlight>
              </a:rPr>
              <a:t>or</a:t>
            </a:r>
            <a:r>
              <a:rPr lang="en-US" sz="1296" b="1" dirty="0">
                <a:highlight>
                  <a:srgbClr val="ECECFF"/>
                </a:highlight>
              </a:rPr>
              <a:t>-</a:t>
            </a:r>
            <a:r>
              <a:rPr sz="1296" b="1" dirty="0">
                <a:highlight>
                  <a:srgbClr val="ECECFF"/>
                </a:highlight>
              </a:rPr>
              <a:t>
</a:t>
            </a:r>
            <a:r>
              <a:rPr sz="1296" b="1" dirty="0" err="1">
                <a:highlight>
                  <a:srgbClr val="ECECFF"/>
                </a:highlight>
              </a:rPr>
              <a:t>handshake_timed_out</a:t>
            </a:r>
            <a:r>
              <a:rPr sz="1296" b="1" dirty="0">
                <a:highlight>
                  <a:srgbClr val="ECECFF"/>
                </a:highlight>
              </a:rPr>
              <a:t>()</a:t>
            </a:r>
            <a:endParaRPr lang="en-US" sz="1296" b="1" dirty="0">
              <a:highlight>
                <a:srgbClr val="ECECFF"/>
              </a:highlight>
            </a:endParaRPr>
          </a:p>
          <a:p>
            <a:pPr marL="138909" indent="-138909">
              <a:buFont typeface="Arial" panose="020B0604020202020204" pitchFamily="34" charset="0"/>
              <a:buChar char="•"/>
            </a:pPr>
            <a:r>
              <a:rPr sz="972" b="1" dirty="0"/>
              <a:t>no cooldown
powers down GPU Platform (L1.2 → off)
(SME declined or did not answer)</a:t>
            </a:r>
          </a:p>
        </p:txBody>
      </p:sp>
      <p:sp>
        <p:nvSpPr>
          <p:cNvPr id="22" name="Freeform 21"/>
          <p:cNvSpPr/>
          <p:nvPr/>
        </p:nvSpPr>
        <p:spPr>
          <a:xfrm>
            <a:off x="7772155" y="5017735"/>
            <a:ext cx="5243759" cy="814016"/>
          </a:xfrm>
          <a:custGeom>
            <a:avLst/>
            <a:gdLst/>
            <a:ahLst/>
            <a:cxnLst/>
            <a:rect l="l" t="t" r="r" b="b"/>
            <a:pathLst>
              <a:path w="9980295" h="1928051">
                <a:moveTo>
                  <a:pt x="9980295" y="1928051"/>
                </a:moveTo>
                <a:lnTo>
                  <a:pt x="9659927" y="1613778"/>
                </a:lnTo>
                <a:cubicBezTo>
                  <a:pt x="9339560" y="1299313"/>
                  <a:pt x="8698825" y="670769"/>
                  <a:pt x="8179850" y="356497"/>
                </a:cubicBezTo>
                <a:cubicBezTo>
                  <a:pt x="7661872" y="42032"/>
                  <a:pt x="7264656" y="42032"/>
                  <a:pt x="6711748" y="42032"/>
                </a:cubicBezTo>
                <a:cubicBezTo>
                  <a:pt x="6159838" y="42032"/>
                  <a:pt x="5451237" y="42032"/>
                  <a:pt x="4743634" y="42032"/>
                </a:cubicBezTo>
                <a:cubicBezTo>
                  <a:pt x="4035033" y="42032"/>
                  <a:pt x="3327430" y="42032"/>
                  <a:pt x="2774522" y="42032"/>
                </a:cubicBezTo>
                <a:cubicBezTo>
                  <a:pt x="2222611" y="42032"/>
                  <a:pt x="1825396" y="42032"/>
                  <a:pt x="1429178" y="42032"/>
                </a:cubicBezTo>
                <a:cubicBezTo>
                  <a:pt x="1031962" y="42032"/>
                  <a:pt x="634747" y="42032"/>
                  <a:pt x="397215" y="35091"/>
                </a:cubicBezTo>
                <a:cubicBezTo>
                  <a:pt x="158686" y="28150"/>
                  <a:pt x="79842" y="14075"/>
                  <a:pt x="39921" y="6941"/>
                </a:cubicBezTo>
                <a:lnTo>
                  <a:pt x="0" y="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58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47565" y="3731165"/>
            <a:ext cx="3722811" cy="12391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96" b="1" dirty="0" err="1">
                <a:highlight>
                  <a:srgbClr val="ECECFF"/>
                </a:highlight>
              </a:rPr>
              <a:t>sme_hangs_up</a:t>
            </a:r>
            <a:r>
              <a:rPr sz="1296" b="1" dirty="0">
                <a:highlight>
                  <a:srgbClr val="ECECFF"/>
                </a:highlight>
              </a:rPr>
              <a:t>() </a:t>
            </a:r>
            <a:r>
              <a:rPr sz="972" b="1" dirty="0">
                <a:highlight>
                  <a:srgbClr val="ECECFF"/>
                </a:highlight>
              </a:rPr>
              <a:t>(manual)</a:t>
            </a:r>
            <a:r>
              <a:rPr sz="1296" b="1" dirty="0">
                <a:highlight>
                  <a:srgbClr val="ECECFF"/>
                </a:highlight>
              </a:rPr>
              <a:t> </a:t>
            </a:r>
            <a:r>
              <a:rPr lang="en-US" sz="1296" b="1" dirty="0">
                <a:highlight>
                  <a:srgbClr val="ECECFF"/>
                </a:highlight>
              </a:rPr>
              <a:t>  -</a:t>
            </a:r>
            <a:r>
              <a:rPr sz="1296" b="1" dirty="0">
                <a:highlight>
                  <a:srgbClr val="ECECFF"/>
                </a:highlight>
              </a:rPr>
              <a:t>o</a:t>
            </a:r>
            <a:r>
              <a:rPr lang="en-US" sz="1296" b="1" dirty="0">
                <a:highlight>
                  <a:srgbClr val="ECECFF"/>
                </a:highlight>
              </a:rPr>
              <a:t>r-</a:t>
            </a:r>
            <a:r>
              <a:rPr sz="1296" b="1" dirty="0">
                <a:highlight>
                  <a:srgbClr val="ECECFF"/>
                </a:highlight>
              </a:rPr>
              <a:t>
</a:t>
            </a:r>
            <a:r>
              <a:rPr sz="1296" b="1" dirty="0" err="1">
                <a:highlight>
                  <a:srgbClr val="ECECFF"/>
                </a:highlight>
              </a:rPr>
              <a:t>investigation_timer_expires</a:t>
            </a:r>
            <a:r>
              <a:rPr sz="1296" b="1" dirty="0">
                <a:highlight>
                  <a:srgbClr val="ECECFF"/>
                </a:highlight>
              </a:rPr>
              <a:t>() </a:t>
            </a:r>
            <a:r>
              <a:rPr sz="972" b="1" dirty="0">
                <a:highlight>
                  <a:srgbClr val="ECECFF"/>
                </a:highlight>
              </a:rPr>
              <a:t>(timeout)</a:t>
            </a:r>
            <a:endParaRPr lang="en-US" sz="851" b="1" dirty="0">
              <a:highlight>
                <a:srgbClr val="ECECFF"/>
              </a:highlight>
            </a:endParaRPr>
          </a:p>
          <a:p>
            <a:pPr marL="138909" indent="-138909">
              <a:buFont typeface="Arial" panose="020B0604020202020204" pitchFamily="34" charset="0"/>
              <a:buChar char="•"/>
            </a:pPr>
            <a:r>
              <a:rPr lang="en-US" sz="972" b="1" dirty="0"/>
              <a:t>no cooldown
</a:t>
            </a:r>
            <a:r>
              <a:rPr lang="en-US" sz="972" b="1" dirty="0" err="1"/>
              <a:t>microVMs</a:t>
            </a:r>
            <a:r>
              <a:rPr lang="en-US" sz="972" b="1" dirty="0"/>
              <a:t> powered off
RAM cryptographically erased
audit hash sealed in permanent memory
powers down GPU Platform</a:t>
            </a:r>
          </a:p>
        </p:txBody>
      </p:sp>
      <p:sp>
        <p:nvSpPr>
          <p:cNvPr id="24" name="Freeform 23"/>
          <p:cNvSpPr/>
          <p:nvPr/>
        </p:nvSpPr>
        <p:spPr>
          <a:xfrm>
            <a:off x="1321861" y="4451712"/>
            <a:ext cx="824598" cy="1804791"/>
          </a:xfrm>
          <a:custGeom>
            <a:avLst/>
            <a:gdLst/>
            <a:ahLst/>
            <a:cxnLst/>
            <a:rect l="l" t="t" r="r" b="b"/>
            <a:pathLst>
              <a:path w="3294507" h="2609850">
                <a:moveTo>
                  <a:pt x="0" y="2609850"/>
                </a:moveTo>
                <a:lnTo>
                  <a:pt x="293870" y="2174788"/>
                </a:lnTo>
                <a:cubicBezTo>
                  <a:pt x="588069" y="1739986"/>
                  <a:pt x="1175809" y="869863"/>
                  <a:pt x="1665043" y="435061"/>
                </a:cubicBezTo>
                <a:cubicBezTo>
                  <a:pt x="2154278" y="0"/>
                  <a:pt x="2544677" y="0"/>
                  <a:pt x="2799672" y="0"/>
                </a:cubicBezTo>
                <a:cubicBezTo>
                  <a:pt x="3054996" y="0"/>
                  <a:pt x="3174586" y="0"/>
                  <a:pt x="3234546" y="0"/>
                </a:cubicBezTo>
                <a:lnTo>
                  <a:pt x="3294507" y="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58">
              <a:solidFill>
                <a:schemeClr val="tx1"/>
              </a:solidFill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7167571" y="3029882"/>
            <a:ext cx="2156687" cy="1227071"/>
          </a:xfrm>
          <a:custGeom>
            <a:avLst/>
            <a:gdLst/>
            <a:ahLst/>
            <a:cxnLst/>
            <a:rect l="l" t="t" r="r" b="b"/>
            <a:pathLst>
              <a:path w="4394359" h="1514475">
                <a:moveTo>
                  <a:pt x="0" y="1514475"/>
                </a:moveTo>
                <a:lnTo>
                  <a:pt x="163910" y="1262012"/>
                </a:lnTo>
                <a:cubicBezTo>
                  <a:pt x="328259" y="1009700"/>
                  <a:pt x="656078" y="504774"/>
                  <a:pt x="1018613" y="252462"/>
                </a:cubicBezTo>
                <a:cubicBezTo>
                  <a:pt x="1381147" y="0"/>
                  <a:pt x="1777958" y="0"/>
                  <a:pt x="2174768" y="0"/>
                </a:cubicBezTo>
                <a:cubicBezTo>
                  <a:pt x="2572018" y="0"/>
                  <a:pt x="2968829" y="0"/>
                  <a:pt x="3338395" y="0"/>
                </a:cubicBezTo>
                <a:cubicBezTo>
                  <a:pt x="3708400" y="0"/>
                  <a:pt x="4051599" y="0"/>
                  <a:pt x="4222979" y="0"/>
                </a:cubicBezTo>
                <a:lnTo>
                  <a:pt x="4394359" y="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58">
              <a:solidFill>
                <a:schemeClr val="tx1"/>
              </a:solidFill>
            </a:endParaRPr>
          </a:p>
        </p:txBody>
      </p:sp>
      <p:cxnSp>
        <p:nvCxnSpPr>
          <p:cNvPr id="27" name="Connector 26"/>
          <p:cNvCxnSpPr>
            <a:cxnSpLocks/>
            <a:stCxn id="34" idx="0"/>
          </p:cNvCxnSpPr>
          <p:nvPr/>
        </p:nvCxnSpPr>
        <p:spPr>
          <a:xfrm flipH="1" flipV="1">
            <a:off x="14170512" y="4501211"/>
            <a:ext cx="22303" cy="814016"/>
          </a:xfrm>
          <a:prstGeom prst="line">
            <a:avLst/>
          </a:prstGeom>
          <a:ln w="1270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stCxn id="39" idx="3"/>
            <a:endCxn id="33" idx="1"/>
          </p:cNvCxnSpPr>
          <p:nvPr/>
        </p:nvCxnSpPr>
        <p:spPr>
          <a:xfrm>
            <a:off x="7438784" y="7992185"/>
            <a:ext cx="2648598" cy="72177"/>
          </a:xfrm>
          <a:prstGeom prst="line">
            <a:avLst/>
          </a:prstGeom>
          <a:ln w="1270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562119" y="1606819"/>
            <a:ext cx="108044" cy="108044"/>
          </a:xfrm>
          <a:prstGeom prst="ellipse">
            <a:avLst/>
          </a:prstGeom>
          <a:solidFill>
            <a:schemeClr val="tx1"/>
          </a:solidFill>
          <a:ln w="1270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58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195117" y="2038543"/>
            <a:ext cx="1471095" cy="847929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  <a:effectLst>
            <a:outerShdw blurRad="40000" dist="50800" dir="25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972" b="1" dirty="0">
                <a:solidFill>
                  <a:schemeClr val="tx1"/>
                </a:solidFill>
              </a:rPr>
              <a:t>🏭 FACTORY</a:t>
            </a:r>
          </a:p>
          <a:p>
            <a:pPr algn="ctr"/>
            <a:r>
              <a:rPr sz="972" b="1" dirty="0">
                <a:solidFill>
                  <a:schemeClr val="tx1"/>
                </a:solidFill>
              </a:rPr>
              <a:t>Shipped state</a:t>
            </a:r>
          </a:p>
          <a:p>
            <a:pPr algn="ctr"/>
            <a:r>
              <a:rPr sz="972" b="1" dirty="0">
                <a:solidFill>
                  <a:schemeClr val="tx1"/>
                </a:solidFill>
              </a:rPr>
              <a:t>All ops disabled</a:t>
            </a:r>
          </a:p>
          <a:p>
            <a:pPr algn="ctr"/>
            <a:r>
              <a:rPr sz="972" b="1" dirty="0">
                <a:solidFill>
                  <a:schemeClr val="tx1"/>
                </a:solidFill>
              </a:rPr>
              <a:t>GPU Platform unpowered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4247" y="3923076"/>
            <a:ext cx="1554444" cy="942740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  <a:effectLst>
            <a:outerShdw blurRad="40000" dist="50800" dir="25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972" b="1" dirty="0">
                <a:solidFill>
                  <a:schemeClr val="tx1"/>
                </a:solidFill>
              </a:rPr>
              <a:t>🔵 BOOTSTRAP</a:t>
            </a:r>
          </a:p>
          <a:p>
            <a:pPr algn="ctr"/>
            <a:r>
              <a:rPr sz="972" b="1" dirty="0">
                <a:solidFill>
                  <a:schemeClr val="tx1"/>
                </a:solidFill>
              </a:rPr>
              <a:t>Training / learning window</a:t>
            </a:r>
          </a:p>
          <a:p>
            <a:pPr algn="ctr"/>
            <a:r>
              <a:rPr sz="972" b="1" dirty="0">
                <a:solidFill>
                  <a:schemeClr val="tx1"/>
                </a:solidFill>
              </a:rPr>
              <a:t>Orchestrator active</a:t>
            </a:r>
          </a:p>
          <a:p>
            <a:pPr algn="ctr"/>
            <a:r>
              <a:rPr sz="972" b="1" dirty="0">
                <a:solidFill>
                  <a:schemeClr val="tx1"/>
                </a:solidFill>
              </a:rPr>
              <a:t>GPU Platform POWERED</a:t>
            </a:r>
          </a:p>
          <a:p>
            <a:pPr algn="ctr"/>
            <a:r>
              <a:rPr sz="972" b="1" dirty="0">
                <a:solidFill>
                  <a:schemeClr val="tx1"/>
                </a:solidFill>
              </a:rPr>
              <a:t>Writes allowed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0581" y="4256953"/>
            <a:ext cx="1971570" cy="1173049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  <a:effectLst>
            <a:outerShdw blurRad="40000" dist="50800" dir="25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972" b="1" dirty="0">
                <a:solidFill>
                  <a:schemeClr val="tx1"/>
                </a:solidFill>
              </a:rPr>
              <a:t>🔒 SEALE</a:t>
            </a:r>
            <a:r>
              <a:rPr lang="en-US" sz="972" b="1" dirty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sz="972" b="1" dirty="0">
                <a:solidFill>
                  <a:schemeClr val="tx1"/>
                </a:solidFill>
              </a:rPr>
              <a:t>Production operations
Front end tokenizes the waveform
and scans for anomalies
No orchestration writes
GPU Platform UNPOWERED
Capture + queue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87382" y="7477837"/>
            <a:ext cx="3056255" cy="1173049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  <a:effectLst>
            <a:outerShdw blurRad="40000" dist="50800" dir="25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972" b="1" dirty="0">
                <a:solidFill>
                  <a:schemeClr val="tx1"/>
                </a:solidFill>
              </a:rPr>
              <a:t>📞 AWAITING_SME</a:t>
            </a:r>
            <a:endParaRPr lang="en-US" sz="972" b="1" dirty="0">
              <a:solidFill>
                <a:schemeClr val="tx1"/>
              </a:solidFill>
            </a:endParaRPr>
          </a:p>
          <a:p>
            <a:pPr algn="ctr"/>
            <a:r>
              <a:rPr lang="en-US" sz="972" b="1" dirty="0">
                <a:solidFill>
                  <a:schemeClr val="tx1"/>
                </a:solidFill>
              </a:rPr>
              <a:t>Handshake gate (~60-s default)
System has called the SME and
is waiting for them to accept
GPU Platform PRE-WARMED (L1.2 ready, no inference)
No orchestration writes
Auto-returns to SEALED on timeout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002477" y="5315229"/>
            <a:ext cx="2380672" cy="1173049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  <a:effectLst>
            <a:outerShdw blurRad="40000" dist="50800" dir="258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972" b="1" dirty="0">
                <a:solidFill>
                  <a:schemeClr val="tx1"/>
                </a:solidFill>
              </a:rPr>
              <a:t>🔍 INVESTIGATION</a:t>
            </a:r>
            <a:endParaRPr lang="en-US" sz="972" b="1" dirty="0">
              <a:solidFill>
                <a:schemeClr val="tx1"/>
              </a:solidFill>
            </a:endParaRPr>
          </a:p>
          <a:p>
            <a:pPr algn="ctr"/>
            <a:r>
              <a:rPr sz="972" b="1" dirty="0">
                <a:solidFill>
                  <a:schemeClr val="tx1"/>
                </a:solidFill>
              </a:rPr>
              <a:t>Live SME troubleshooting (15-min session)
GPU Platform POWERED (inference only)
NO orchestration writes
Read </a:t>
            </a:r>
            <a:r>
              <a:rPr sz="972" b="1" i="1" dirty="0">
                <a:solidFill>
                  <a:schemeClr val="tx1"/>
                </a:solidFill>
              </a:rPr>
              <a:t>station + process bus</a:t>
            </a:r>
            <a:r>
              <a:rPr sz="972" b="1" dirty="0">
                <a:solidFill>
                  <a:schemeClr val="tx1"/>
                </a:solidFill>
              </a:rPr>
              <a:t>
Read settings + COMTRADE
</a:t>
            </a:r>
            <a:r>
              <a:rPr sz="972" b="1" dirty="0">
                <a:solidFill>
                  <a:schemeClr val="tx1"/>
                </a:solidFill>
                <a:highlight>
                  <a:srgbClr val="FFFF00"/>
                </a:highlight>
              </a:rPr>
              <a:t>Extra relay protection ENABLED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1316" y="6256504"/>
            <a:ext cx="2414530" cy="909178"/>
          </a:xfrm>
          <a:prstGeom prst="roundRect">
            <a:avLst>
              <a:gd name="adj" fmla="val 5050"/>
            </a:avLst>
          </a:prstGeom>
          <a:solidFill>
            <a:srgbClr val="FFF9CD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72" b="1" dirty="0">
                <a:solidFill>
                  <a:schemeClr val="tx1"/>
                </a:solidFill>
                <a:latin typeface="Segoe UI"/>
              </a:rPr>
              <a:t>Bootstrap window typical durations:</a:t>
            </a:r>
            <a:endParaRPr lang="en-US" sz="972" b="1" dirty="0">
              <a:solidFill>
                <a:schemeClr val="tx1"/>
              </a:solidFill>
              <a:latin typeface="Segoe UI"/>
            </a:endParaRPr>
          </a:p>
          <a:p>
            <a:endParaRPr lang="en-US" sz="972" b="1" dirty="0">
              <a:solidFill>
                <a:schemeClr val="tx1"/>
              </a:solidFill>
              <a:latin typeface="Segoe UI"/>
            </a:endParaRPr>
          </a:p>
          <a:p>
            <a:pPr marL="138909" indent="-138909">
              <a:buFont typeface="Arial" panose="020B0604020202020204" pitchFamily="34" charset="0"/>
              <a:buChar char="•"/>
            </a:pPr>
            <a:r>
              <a:rPr sz="972" b="1" dirty="0">
                <a:solidFill>
                  <a:schemeClr val="tx1"/>
                </a:solidFill>
                <a:latin typeface="Segoe UI"/>
              </a:rPr>
              <a:t>Initial commission: 30 days
Quarterly recal</a:t>
            </a:r>
            <a:r>
              <a:rPr lang="en-US" sz="972" b="1" dirty="0">
                <a:solidFill>
                  <a:schemeClr val="tx1"/>
                </a:solidFill>
                <a:latin typeface="Segoe UI"/>
              </a:rPr>
              <a:t>l</a:t>
            </a:r>
            <a:r>
              <a:rPr sz="972" b="1" dirty="0">
                <a:solidFill>
                  <a:schemeClr val="tx1"/>
                </a:solidFill>
                <a:latin typeface="Segoe UI"/>
              </a:rPr>
              <a:t>: 1-2 days
Post-incident: hours to days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11302" y="2408630"/>
            <a:ext cx="2533103" cy="980111"/>
          </a:xfrm>
          <a:prstGeom prst="roundRect">
            <a:avLst>
              <a:gd name="adj" fmla="val 5050"/>
            </a:avLst>
          </a:prstGeom>
          <a:solidFill>
            <a:srgbClr val="FFF9CD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72" b="1" dirty="0">
                <a:solidFill>
                  <a:schemeClr val="tx1"/>
                </a:solidFill>
                <a:latin typeface="Segoe UI"/>
              </a:rPr>
              <a:t>Default production state.
</a:t>
            </a:r>
            <a:endParaRPr lang="en-US" sz="972" b="1" dirty="0">
              <a:solidFill>
                <a:schemeClr val="tx1"/>
              </a:solidFill>
              <a:latin typeface="Segoe UI"/>
            </a:endParaRPr>
          </a:p>
          <a:p>
            <a:pPr marL="138909" indent="-138909">
              <a:buFont typeface="Arial" panose="020B0604020202020204" pitchFamily="34" charset="0"/>
              <a:buChar char="•"/>
            </a:pPr>
            <a:r>
              <a:rPr sz="972" b="1" dirty="0">
                <a:solidFill>
                  <a:schemeClr val="tx1"/>
                </a:solidFill>
                <a:latin typeface="Segoe UI"/>
              </a:rPr>
              <a:t>Voice tags queue for next BOOTSTRAP.
Novel events flagged for review.
Catch-up batch on next open.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0474" y="2059765"/>
            <a:ext cx="1365522" cy="805486"/>
          </a:xfrm>
          <a:prstGeom prst="roundRect">
            <a:avLst>
              <a:gd name="adj" fmla="val 7936"/>
            </a:avLst>
          </a:prstGeom>
          <a:solidFill>
            <a:srgbClr val="FFF9CD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72" b="1" dirty="0">
                <a:solidFill>
                  <a:schemeClr val="tx1"/>
                </a:solidFill>
                <a:latin typeface="Segoe UI"/>
              </a:rPr>
              <a:t>One-way: cannot return to FACTORY.</a:t>
            </a:r>
          </a:p>
          <a:p>
            <a:endParaRPr lang="en-US" sz="972" b="1" dirty="0">
              <a:solidFill>
                <a:schemeClr val="tx1"/>
              </a:solidFill>
              <a:latin typeface="Segoe UI"/>
            </a:endParaRPr>
          </a:p>
          <a:p>
            <a:r>
              <a:rPr sz="972" b="1" dirty="0">
                <a:solidFill>
                  <a:schemeClr val="tx1"/>
                </a:solidFill>
                <a:latin typeface="Segoe UI"/>
              </a:rPr>
              <a:t>Commissioning is irreversible.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058799" y="3268830"/>
            <a:ext cx="2268031" cy="1221910"/>
          </a:xfrm>
          <a:prstGeom prst="roundRect">
            <a:avLst>
              <a:gd name="adj" fmla="val 4347"/>
            </a:avLst>
          </a:prstGeom>
          <a:solidFill>
            <a:srgbClr val="FFF9CD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72" b="1" dirty="0">
                <a:solidFill>
                  <a:schemeClr val="tx1"/>
                </a:solidFill>
                <a:latin typeface="Segoe UI"/>
              </a:rPr>
              <a:t>Short-lived diagnostic mode.</a:t>
            </a:r>
          </a:p>
          <a:p>
            <a:pPr marL="138909" indent="-138909">
              <a:buFont typeface="Arial" panose="020B0604020202020204" pitchFamily="34" charset="0"/>
              <a:buChar char="•"/>
            </a:pPr>
            <a:r>
              <a:rPr sz="972" b="1" dirty="0">
                <a:solidFill>
                  <a:schemeClr val="tx1"/>
                </a:solidFill>
                <a:latin typeface="Segoe UI"/>
              </a:rPr>
              <a:t>On exit (SME hangs up OR timer):
</a:t>
            </a:r>
            <a:r>
              <a:rPr sz="972" b="1" dirty="0" err="1">
                <a:solidFill>
                  <a:schemeClr val="tx1"/>
                </a:solidFill>
                <a:latin typeface="Segoe UI"/>
              </a:rPr>
              <a:t>microVMs</a:t>
            </a:r>
            <a:r>
              <a:rPr sz="972" b="1" dirty="0">
                <a:solidFill>
                  <a:schemeClr val="tx1"/>
                </a:solidFill>
                <a:latin typeface="Segoe UI"/>
              </a:rPr>
              <a:t> powered off
RAM crypto-erased
erase-hash committed to
permanent audit memory
Auto-returns to SEALED.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8128" y="7044529"/>
            <a:ext cx="2410656" cy="1895311"/>
          </a:xfrm>
          <a:prstGeom prst="roundRect">
            <a:avLst>
              <a:gd name="adj" fmla="val 4347"/>
            </a:avLst>
          </a:prstGeom>
          <a:solidFill>
            <a:srgbClr val="FFF9CD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972" b="1" dirty="0">
                <a:solidFill>
                  <a:schemeClr val="tx1"/>
                </a:solidFill>
                <a:latin typeface="Segoe UI"/>
              </a:rPr>
              <a:t>Handshake gate.
</a:t>
            </a:r>
            <a:endParaRPr lang="en-US" sz="972" b="1" dirty="0">
              <a:solidFill>
                <a:schemeClr val="tx1"/>
              </a:solidFill>
              <a:latin typeface="Segoe UI"/>
            </a:endParaRPr>
          </a:p>
          <a:p>
            <a:pPr marL="138909" indent="-138909">
              <a:buFont typeface="Arial" panose="020B0604020202020204" pitchFamily="34" charset="0"/>
              <a:buChar char="•"/>
            </a:pPr>
            <a:r>
              <a:rPr sz="972" b="1" dirty="0">
                <a:solidFill>
                  <a:schemeClr val="tx1"/>
                </a:solidFill>
                <a:latin typeface="Segoe UI"/>
              </a:rPr>
              <a:t>INVESTIGATION cannot be entered</a:t>
            </a:r>
            <a:r>
              <a:rPr lang="en-US" sz="972" b="1" dirty="0">
                <a:solidFill>
                  <a:schemeClr val="tx1"/>
                </a:solidFill>
                <a:latin typeface="Segoe UI"/>
              </a:rPr>
              <a:t> </a:t>
            </a:r>
            <a:r>
              <a:rPr sz="972" b="1" dirty="0">
                <a:solidFill>
                  <a:schemeClr val="tx1"/>
                </a:solidFill>
                <a:latin typeface="Segoe UI"/>
              </a:rPr>
              <a:t>without the SME explicitly</a:t>
            </a:r>
            <a:r>
              <a:rPr lang="en-US" sz="972" b="1" dirty="0">
                <a:solidFill>
                  <a:schemeClr val="tx1"/>
                </a:solidFill>
                <a:latin typeface="Segoe UI"/>
              </a:rPr>
              <a:t> </a:t>
            </a:r>
            <a:r>
              <a:rPr sz="972" b="1" dirty="0">
                <a:solidFill>
                  <a:schemeClr val="tx1"/>
                </a:solidFill>
                <a:latin typeface="Segoe UI"/>
              </a:rPr>
              <a:t>accepting the call here.
GPU Platform is pre-warmed to L1.2</a:t>
            </a:r>
            <a:r>
              <a:rPr lang="en-US" sz="972" b="1" dirty="0">
                <a:solidFill>
                  <a:schemeClr val="tx1"/>
                </a:solidFill>
                <a:latin typeface="Segoe UI"/>
              </a:rPr>
              <a:t> </a:t>
            </a:r>
            <a:r>
              <a:rPr sz="972" b="1" dirty="0">
                <a:solidFill>
                  <a:schemeClr val="tx1"/>
                </a:solidFill>
                <a:latin typeface="Segoe UI"/>
              </a:rPr>
              <a:t>during the wait so accept→</a:t>
            </a:r>
            <a:r>
              <a:rPr lang="en-US" sz="972" b="1" dirty="0">
                <a:solidFill>
                  <a:schemeClr val="tx1"/>
                </a:solidFill>
                <a:latin typeface="Segoe UI"/>
              </a:rPr>
              <a:t> </a:t>
            </a:r>
            <a:r>
              <a:rPr sz="972" b="1" dirty="0">
                <a:solidFill>
                  <a:schemeClr val="tx1"/>
                </a:solidFill>
                <a:latin typeface="Segoe UI"/>
              </a:rPr>
              <a:t>inference is sub-second.
If they don't answer, the</a:t>
            </a:r>
            <a:r>
              <a:rPr lang="en-US" sz="972" b="1" dirty="0">
                <a:solidFill>
                  <a:schemeClr val="tx1"/>
                </a:solidFill>
                <a:latin typeface="Segoe UI"/>
              </a:rPr>
              <a:t> </a:t>
            </a:r>
            <a:r>
              <a:rPr sz="972" b="1" dirty="0" err="1">
                <a:solidFill>
                  <a:schemeClr val="tx1"/>
                </a:solidFill>
                <a:latin typeface="Segoe UI"/>
              </a:rPr>
              <a:t>handshake_timed_out</a:t>
            </a:r>
            <a:r>
              <a:rPr sz="972" b="1" dirty="0">
                <a:solidFill>
                  <a:schemeClr val="tx1"/>
                </a:solidFill>
                <a:latin typeface="Segoe UI"/>
              </a:rPr>
              <a:t> event</a:t>
            </a:r>
            <a:r>
              <a:rPr lang="en-US" sz="972" b="1" dirty="0">
                <a:solidFill>
                  <a:schemeClr val="tx1"/>
                </a:solidFill>
                <a:latin typeface="Segoe UI"/>
              </a:rPr>
              <a:t> </a:t>
            </a:r>
            <a:r>
              <a:rPr sz="972" b="1" dirty="0">
                <a:solidFill>
                  <a:schemeClr val="tx1"/>
                </a:solidFill>
                <a:latin typeface="Segoe UI"/>
              </a:rPr>
              <a:t>returns the system to SEALED</a:t>
            </a:r>
            <a:r>
              <a:rPr lang="en-US" sz="972" b="1" dirty="0">
                <a:solidFill>
                  <a:schemeClr val="tx1"/>
                </a:solidFill>
                <a:latin typeface="Segoe UI"/>
              </a:rPr>
              <a:t> </a:t>
            </a:r>
            <a:r>
              <a:rPr sz="972" b="1" dirty="0">
                <a:solidFill>
                  <a:schemeClr val="tx1"/>
                </a:solidFill>
                <a:latin typeface="Segoe UI"/>
              </a:rPr>
              <a:t>and powers the GPU Platform back down.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3EC238D-99BF-03B4-57AD-6F3A941B6DF2}"/>
              </a:ext>
            </a:extLst>
          </p:cNvPr>
          <p:cNvCxnSpPr/>
          <p:nvPr/>
        </p:nvCxnSpPr>
        <p:spPr>
          <a:xfrm>
            <a:off x="2195117" y="2231112"/>
            <a:ext cx="1471095" cy="0"/>
          </a:xfrm>
          <a:prstGeom prst="line">
            <a:avLst/>
          </a:prstGeom>
          <a:ln w="12700">
            <a:solidFill>
              <a:srgbClr val="937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2F31E00-208E-7AC2-A200-C3D6E16E659E}"/>
              </a:ext>
            </a:extLst>
          </p:cNvPr>
          <p:cNvCxnSpPr>
            <a:cxnSpLocks/>
          </p:cNvCxnSpPr>
          <p:nvPr/>
        </p:nvCxnSpPr>
        <p:spPr>
          <a:xfrm>
            <a:off x="2164247" y="4109579"/>
            <a:ext cx="1554521" cy="0"/>
          </a:xfrm>
          <a:prstGeom prst="line">
            <a:avLst/>
          </a:prstGeom>
          <a:ln w="12700">
            <a:solidFill>
              <a:srgbClr val="937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2FAE4D4-11EF-9547-25FF-8398FC431EF7}"/>
              </a:ext>
            </a:extLst>
          </p:cNvPr>
          <p:cNvCxnSpPr>
            <a:cxnSpLocks/>
          </p:cNvCxnSpPr>
          <p:nvPr/>
        </p:nvCxnSpPr>
        <p:spPr>
          <a:xfrm>
            <a:off x="5800581" y="4462749"/>
            <a:ext cx="1971570" cy="0"/>
          </a:xfrm>
          <a:prstGeom prst="line">
            <a:avLst/>
          </a:prstGeom>
          <a:ln w="12700">
            <a:solidFill>
              <a:srgbClr val="937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675C1B-9949-0054-A2D5-F90484329C22}"/>
              </a:ext>
            </a:extLst>
          </p:cNvPr>
          <p:cNvCxnSpPr>
            <a:cxnSpLocks/>
          </p:cNvCxnSpPr>
          <p:nvPr/>
        </p:nvCxnSpPr>
        <p:spPr>
          <a:xfrm>
            <a:off x="10087382" y="7679774"/>
            <a:ext cx="3056255" cy="0"/>
          </a:xfrm>
          <a:prstGeom prst="line">
            <a:avLst/>
          </a:prstGeom>
          <a:ln w="12700">
            <a:solidFill>
              <a:srgbClr val="937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085810B-A31D-0B60-7CAB-97509F2F95FB}"/>
              </a:ext>
            </a:extLst>
          </p:cNvPr>
          <p:cNvCxnSpPr>
            <a:cxnSpLocks/>
          </p:cNvCxnSpPr>
          <p:nvPr/>
        </p:nvCxnSpPr>
        <p:spPr>
          <a:xfrm>
            <a:off x="12992509" y="5497526"/>
            <a:ext cx="2390640" cy="0"/>
          </a:xfrm>
          <a:prstGeom prst="line">
            <a:avLst/>
          </a:prstGeom>
          <a:ln w="12700">
            <a:solidFill>
              <a:srgbClr val="937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FC8DA9E-33B1-231D-499B-46B25430F3AF}"/>
              </a:ext>
            </a:extLst>
          </p:cNvPr>
          <p:cNvSpPr/>
          <p:nvPr/>
        </p:nvSpPr>
        <p:spPr>
          <a:xfrm>
            <a:off x="3493008" y="1866784"/>
            <a:ext cx="296349" cy="296349"/>
          </a:xfrm>
          <a:prstGeom prst="ellipse">
            <a:avLst/>
          </a:prstGeom>
          <a:solidFill>
            <a:srgbClr val="ECE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58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03BE95A-0BF3-7DAD-E1E7-8A036B505219}"/>
              </a:ext>
            </a:extLst>
          </p:cNvPr>
          <p:cNvSpPr/>
          <p:nvPr/>
        </p:nvSpPr>
        <p:spPr>
          <a:xfrm>
            <a:off x="3512291" y="3731311"/>
            <a:ext cx="296349" cy="296349"/>
          </a:xfrm>
          <a:prstGeom prst="ellipse">
            <a:avLst/>
          </a:prstGeom>
          <a:solidFill>
            <a:srgbClr val="ECE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58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FE603F8-DB45-66A3-892B-F9049686D88E}"/>
              </a:ext>
            </a:extLst>
          </p:cNvPr>
          <p:cNvSpPr/>
          <p:nvPr/>
        </p:nvSpPr>
        <p:spPr>
          <a:xfrm>
            <a:off x="7530165" y="4074189"/>
            <a:ext cx="296349" cy="296349"/>
          </a:xfrm>
          <a:prstGeom prst="ellipse">
            <a:avLst/>
          </a:prstGeom>
          <a:solidFill>
            <a:srgbClr val="ECE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58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5EA4D83-ED29-8F6E-11FB-D97C5EB42CBA}"/>
              </a:ext>
            </a:extLst>
          </p:cNvPr>
          <p:cNvSpPr/>
          <p:nvPr/>
        </p:nvSpPr>
        <p:spPr>
          <a:xfrm>
            <a:off x="12919074" y="7314623"/>
            <a:ext cx="296349" cy="296349"/>
          </a:xfrm>
          <a:prstGeom prst="ellipse">
            <a:avLst/>
          </a:prstGeom>
          <a:solidFill>
            <a:srgbClr val="ECE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58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2134D98-C5B3-C6BB-ABAB-5C59BD885252}"/>
              </a:ext>
            </a:extLst>
          </p:cNvPr>
          <p:cNvSpPr/>
          <p:nvPr/>
        </p:nvSpPr>
        <p:spPr>
          <a:xfrm>
            <a:off x="15116049" y="5148440"/>
            <a:ext cx="296349" cy="296349"/>
          </a:xfrm>
          <a:prstGeom prst="ellipse">
            <a:avLst/>
          </a:prstGeom>
          <a:solidFill>
            <a:srgbClr val="ECECFF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58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62" name="Connector 26">
            <a:extLst>
              <a:ext uri="{FF2B5EF4-FFF2-40B4-BE49-F238E27FC236}">
                <a16:creationId xmlns:a16="http://schemas.microsoft.com/office/drawing/2014/main" id="{6305EEC6-E9DE-F1D6-AEF9-B422BABB6991}"/>
              </a:ext>
            </a:extLst>
          </p:cNvPr>
          <p:cNvCxnSpPr>
            <a:cxnSpLocks/>
            <a:stCxn id="30" idx="3"/>
            <a:endCxn id="37" idx="1"/>
          </p:cNvCxnSpPr>
          <p:nvPr/>
        </p:nvCxnSpPr>
        <p:spPr>
          <a:xfrm>
            <a:off x="3666212" y="2462508"/>
            <a:ext cx="624262" cy="0"/>
          </a:xfrm>
          <a:prstGeom prst="line">
            <a:avLst/>
          </a:prstGeom>
          <a:ln w="1270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473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 moran</cp:lastModifiedBy>
  <cp:revision>3</cp:revision>
  <dcterms:created xsi:type="dcterms:W3CDTF">2013-01-27T09:14:16Z</dcterms:created>
  <dcterms:modified xsi:type="dcterms:W3CDTF">2026-06-03T00:34:06Z</dcterms:modified>
  <cp:category/>
</cp:coreProperties>
</file>