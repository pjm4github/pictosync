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5487578" cy="13849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tosync_bg_o9nhgs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53" y="381000"/>
            <a:ext cx="35099625" cy="134683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4153" y="933450"/>
            <a:ext cx="11827383" cy="128397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👤 Operator · wireless / phone · upstream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96816" y="7486650"/>
            <a:ext cx="16246316" cy="49530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⚙ Substation Edge Compute · enclosure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177361" y="5429250"/>
            <a:ext cx="19907345" cy="15621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⚙ Substation Edge Compute ·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97245" y="2724150"/>
            <a:ext cx="20113561" cy="24384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⇦ from diagram 16a (substation primary)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4653" y="5562600"/>
            <a:ext cx="5145119" cy="12954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Upstream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90272" y="1066800"/>
            <a:ext cx="3386613" cy="125730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Wireless / remote (phone)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9567386" y="10553700"/>
            <a:ext cx="2533650" cy="17526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Operator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44707" y="7620000"/>
            <a:ext cx="9307830" cy="24384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Safety Module daughtercard · always-on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87316" y="7620000"/>
            <a:ext cx="6366986" cy="243840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x86 HOST · Cloud Hypervisor microVMs</a:t>
            </a:r>
          </a:p>
        </p:txBody>
      </p:sp>
      <p:sp>
        <p:nvSpPr>
          <p:cNvPr id="12" name="Freeform 11"/>
          <p:cNvSpPr/>
          <p:nvPr/>
        </p:nvSpPr>
        <p:spPr>
          <a:xfrm>
            <a:off x="22641306" y="9124950"/>
            <a:ext cx="4712970" cy="1733835"/>
          </a:xfrm>
          <a:custGeom>
            <a:avLst/>
            <a:gdLst/>
            <a:ahLst/>
            <a:cxnLst/>
            <a:rect l="l" t="t" r="r" b="b"/>
            <a:pathLst>
              <a:path w="4712970" h="1733835">
                <a:moveTo>
                  <a:pt x="0" y="0"/>
                </a:moveTo>
                <a:lnTo>
                  <a:pt x="616456" y="933497"/>
                </a:lnTo>
                <a:lnTo>
                  <a:pt x="4712970" y="1181088"/>
                </a:lnTo>
                <a:lnTo>
                  <a:pt x="4712970" y="1428680"/>
                </a:lnTo>
                <a:lnTo>
                  <a:pt x="4712970" y="173383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16126" y="10296484"/>
            <a:ext cx="8763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power gate</a:t>
            </a:r>
          </a:p>
        </p:txBody>
      </p:sp>
      <p:sp>
        <p:nvSpPr>
          <p:cNvPr id="14" name="Freeform 13"/>
          <p:cNvSpPr/>
          <p:nvPr/>
        </p:nvSpPr>
        <p:spPr>
          <a:xfrm>
            <a:off x="28465938" y="6431089"/>
            <a:ext cx="3022092" cy="2084356"/>
          </a:xfrm>
          <a:custGeom>
            <a:avLst/>
            <a:gdLst/>
            <a:ahLst/>
            <a:cxnLst/>
            <a:rect l="l" t="t" r="r" b="b"/>
            <a:pathLst>
              <a:path w="3022092" h="2084356">
                <a:moveTo>
                  <a:pt x="0" y="0"/>
                </a:moveTo>
                <a:lnTo>
                  <a:pt x="1789985" y="426876"/>
                </a:lnTo>
                <a:lnTo>
                  <a:pt x="1789985" y="560275"/>
                </a:lnTo>
                <a:lnTo>
                  <a:pt x="3022092" y="807896"/>
                </a:lnTo>
                <a:lnTo>
                  <a:pt x="3022092" y="1055518"/>
                </a:lnTo>
                <a:lnTo>
                  <a:pt x="3022092" y="1188917"/>
                </a:lnTo>
                <a:lnTo>
                  <a:pt x="2952282" y="2084356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8738068" y="6434613"/>
            <a:ext cx="2013013" cy="2195037"/>
          </a:xfrm>
          <a:custGeom>
            <a:avLst/>
            <a:gdLst/>
            <a:ahLst/>
            <a:cxnLst/>
            <a:rect l="l" t="t" r="r" b="b"/>
            <a:pathLst>
              <a:path w="2013013" h="2195037">
                <a:moveTo>
                  <a:pt x="2013013" y="0"/>
                </a:moveTo>
                <a:lnTo>
                  <a:pt x="0" y="423423"/>
                </a:lnTo>
                <a:lnTo>
                  <a:pt x="0" y="556661"/>
                </a:lnTo>
                <a:lnTo>
                  <a:pt x="0" y="804262"/>
                </a:lnTo>
                <a:lnTo>
                  <a:pt x="0" y="1052081"/>
                </a:lnTo>
                <a:lnTo>
                  <a:pt x="0" y="1185320"/>
                </a:lnTo>
                <a:lnTo>
                  <a:pt x="0" y="2195037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265157" y="6396990"/>
            <a:ext cx="2634139" cy="2246471"/>
          </a:xfrm>
          <a:custGeom>
            <a:avLst/>
            <a:gdLst/>
            <a:ahLst/>
            <a:cxnLst/>
            <a:rect l="l" t="t" r="r" b="b"/>
            <a:pathLst>
              <a:path w="2634139" h="2246471">
                <a:moveTo>
                  <a:pt x="0" y="0"/>
                </a:moveTo>
                <a:lnTo>
                  <a:pt x="2634139" y="460975"/>
                </a:lnTo>
                <a:lnTo>
                  <a:pt x="2634139" y="594416"/>
                </a:lnTo>
                <a:lnTo>
                  <a:pt x="2634139" y="841977"/>
                </a:lnTo>
                <a:lnTo>
                  <a:pt x="2634139" y="1089763"/>
                </a:lnTo>
                <a:lnTo>
                  <a:pt x="2634139" y="1222978"/>
                </a:lnTo>
                <a:lnTo>
                  <a:pt x="1399255" y="2246471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322980" y="6377940"/>
            <a:ext cx="3932492" cy="2260949"/>
          </a:xfrm>
          <a:custGeom>
            <a:avLst/>
            <a:gdLst/>
            <a:ahLst/>
            <a:cxnLst/>
            <a:rect l="l" t="t" r="r" b="b"/>
            <a:pathLst>
              <a:path w="3932492" h="2260949">
                <a:moveTo>
                  <a:pt x="0" y="0"/>
                </a:moveTo>
                <a:lnTo>
                  <a:pt x="3053973" y="479999"/>
                </a:lnTo>
                <a:lnTo>
                  <a:pt x="3053973" y="613395"/>
                </a:lnTo>
                <a:lnTo>
                  <a:pt x="3053973" y="860969"/>
                </a:lnTo>
                <a:lnTo>
                  <a:pt x="3053973" y="1108769"/>
                </a:lnTo>
                <a:lnTo>
                  <a:pt x="3053973" y="1241939"/>
                </a:lnTo>
                <a:lnTo>
                  <a:pt x="3932492" y="2260949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7539918" y="4319587"/>
            <a:ext cx="9525" cy="1566863"/>
          </a:xfrm>
          <a:custGeom>
            <a:avLst/>
            <a:gdLst/>
            <a:ahLst/>
            <a:cxnLst/>
            <a:rect l="l" t="t" r="r" b="b"/>
            <a:pathLst>
              <a:path w="9525" h="1566863">
                <a:moveTo>
                  <a:pt x="9525" y="0"/>
                </a:moveTo>
                <a:lnTo>
                  <a:pt x="0" y="842972"/>
                </a:lnTo>
                <a:lnTo>
                  <a:pt x="0" y="976312"/>
                </a:lnTo>
                <a:lnTo>
                  <a:pt x="0" y="1109652"/>
                </a:lnTo>
                <a:lnTo>
                  <a:pt x="0" y="1242992"/>
                </a:lnTo>
                <a:lnTo>
                  <a:pt x="0" y="156686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1817881" y="4319587"/>
            <a:ext cx="9525" cy="1452563"/>
          </a:xfrm>
          <a:custGeom>
            <a:avLst/>
            <a:gdLst/>
            <a:ahLst/>
            <a:cxnLst/>
            <a:rect l="l" t="t" r="r" b="b"/>
            <a:pathLst>
              <a:path w="9525" h="1452563">
                <a:moveTo>
                  <a:pt x="9525" y="0"/>
                </a:moveTo>
                <a:lnTo>
                  <a:pt x="0" y="842922"/>
                </a:lnTo>
                <a:lnTo>
                  <a:pt x="0" y="976267"/>
                </a:lnTo>
                <a:lnTo>
                  <a:pt x="0" y="1109612"/>
                </a:lnTo>
                <a:lnTo>
                  <a:pt x="0" y="1242958"/>
                </a:lnTo>
                <a:lnTo>
                  <a:pt x="0" y="145256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4198357" y="4433887"/>
            <a:ext cx="9525" cy="1223963"/>
          </a:xfrm>
          <a:custGeom>
            <a:avLst/>
            <a:gdLst/>
            <a:ahLst/>
            <a:cxnLst/>
            <a:rect l="l" t="t" r="r" b="b"/>
            <a:pathLst>
              <a:path w="9525" h="1223963">
                <a:moveTo>
                  <a:pt x="9525" y="0"/>
                </a:moveTo>
                <a:lnTo>
                  <a:pt x="0" y="728625"/>
                </a:lnTo>
                <a:lnTo>
                  <a:pt x="0" y="862037"/>
                </a:lnTo>
                <a:lnTo>
                  <a:pt x="0" y="995326"/>
                </a:lnTo>
                <a:lnTo>
                  <a:pt x="0" y="1128738"/>
                </a:lnTo>
                <a:lnTo>
                  <a:pt x="0" y="122396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1256180" y="4319587"/>
            <a:ext cx="9525" cy="1338263"/>
          </a:xfrm>
          <a:custGeom>
            <a:avLst/>
            <a:gdLst/>
            <a:ahLst/>
            <a:cxnLst/>
            <a:rect l="l" t="t" r="r" b="b"/>
            <a:pathLst>
              <a:path w="9525" h="1338263">
                <a:moveTo>
                  <a:pt x="9525" y="0"/>
                </a:moveTo>
                <a:lnTo>
                  <a:pt x="0" y="842972"/>
                </a:lnTo>
                <a:lnTo>
                  <a:pt x="0" y="976262"/>
                </a:lnTo>
                <a:lnTo>
                  <a:pt x="0" y="1109687"/>
                </a:lnTo>
                <a:lnTo>
                  <a:pt x="0" y="1242978"/>
                </a:lnTo>
                <a:lnTo>
                  <a:pt x="0" y="133826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1270384" y="4205287"/>
            <a:ext cx="2962085" cy="4310253"/>
          </a:xfrm>
          <a:custGeom>
            <a:avLst/>
            <a:gdLst/>
            <a:ahLst/>
            <a:cxnLst/>
            <a:rect l="l" t="t" r="r" b="b"/>
            <a:pathLst>
              <a:path w="2962085" h="4310253">
                <a:moveTo>
                  <a:pt x="2962085" y="0"/>
                </a:moveTo>
                <a:lnTo>
                  <a:pt x="2957345" y="957307"/>
                </a:lnTo>
                <a:lnTo>
                  <a:pt x="2957345" y="1090494"/>
                </a:lnTo>
                <a:lnTo>
                  <a:pt x="2957345" y="1224112"/>
                </a:lnTo>
                <a:lnTo>
                  <a:pt x="2957345" y="1357299"/>
                </a:lnTo>
                <a:lnTo>
                  <a:pt x="2957345" y="2005130"/>
                </a:lnTo>
                <a:lnTo>
                  <a:pt x="2957345" y="2652530"/>
                </a:lnTo>
                <a:lnTo>
                  <a:pt x="2957345" y="2786148"/>
                </a:lnTo>
                <a:lnTo>
                  <a:pt x="0" y="3033556"/>
                </a:lnTo>
                <a:lnTo>
                  <a:pt x="0" y="3281396"/>
                </a:lnTo>
                <a:lnTo>
                  <a:pt x="0" y="3414582"/>
                </a:lnTo>
                <a:lnTo>
                  <a:pt x="90047" y="431025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49399" y="6400767"/>
            <a:ext cx="375666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disciplines signal-plane clock
(origin_ns at ingest)</a:t>
            </a:r>
          </a:p>
        </p:txBody>
      </p:sp>
      <p:sp>
        <p:nvSpPr>
          <p:cNvPr id="24" name="Freeform 23"/>
          <p:cNvSpPr/>
          <p:nvPr/>
        </p:nvSpPr>
        <p:spPr>
          <a:xfrm>
            <a:off x="7788783" y="12058650"/>
            <a:ext cx="3045428" cy="633126"/>
          </a:xfrm>
          <a:custGeom>
            <a:avLst/>
            <a:gdLst/>
            <a:ahLst/>
            <a:cxnLst/>
            <a:rect l="l" t="t" r="r" b="b"/>
            <a:pathLst>
              <a:path w="3045428" h="633126">
                <a:moveTo>
                  <a:pt x="3045428" y="0"/>
                </a:moveTo>
                <a:lnTo>
                  <a:pt x="3045428" y="247679"/>
                </a:lnTo>
                <a:lnTo>
                  <a:pt x="210134" y="381015"/>
                </a:lnTo>
                <a:lnTo>
                  <a:pt x="210134" y="514352"/>
                </a:lnTo>
                <a:lnTo>
                  <a:pt x="0" y="63312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217985" y="6645021"/>
            <a:ext cx="1709928" cy="6061329"/>
          </a:xfrm>
          <a:custGeom>
            <a:avLst/>
            <a:gdLst/>
            <a:ahLst/>
            <a:cxnLst/>
            <a:rect l="l" t="t" r="r" b="b"/>
            <a:pathLst>
              <a:path w="1709928" h="6061329">
                <a:moveTo>
                  <a:pt x="1709928" y="6061329"/>
                </a:moveTo>
                <a:lnTo>
                  <a:pt x="1667522" y="5927979"/>
                </a:lnTo>
                <a:lnTo>
                  <a:pt x="1667522" y="5794630"/>
                </a:lnTo>
                <a:lnTo>
                  <a:pt x="1667522" y="5661281"/>
                </a:lnTo>
                <a:lnTo>
                  <a:pt x="1667522" y="4784813"/>
                </a:lnTo>
                <a:lnTo>
                  <a:pt x="1667522" y="3908951"/>
                </a:lnTo>
                <a:lnTo>
                  <a:pt x="1667522" y="3661042"/>
                </a:lnTo>
                <a:lnTo>
                  <a:pt x="1667522" y="3413134"/>
                </a:lnTo>
                <a:lnTo>
                  <a:pt x="1667522" y="2194201"/>
                </a:lnTo>
                <a:lnTo>
                  <a:pt x="1667522" y="975267"/>
                </a:lnTo>
                <a:lnTo>
                  <a:pt x="1667522" y="841918"/>
                </a:lnTo>
                <a:lnTo>
                  <a:pt x="1667522" y="594010"/>
                </a:lnTo>
                <a:lnTo>
                  <a:pt x="1667522" y="346101"/>
                </a:lnTo>
                <a:lnTo>
                  <a:pt x="96782" y="21275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7357" y="9315338"/>
            <a:ext cx="8763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SMS / push</a:t>
            </a:r>
          </a:p>
        </p:txBody>
      </p:sp>
      <p:sp>
        <p:nvSpPr>
          <p:cNvPr id="27" name="Freeform 26"/>
          <p:cNvSpPr/>
          <p:nvPr/>
        </p:nvSpPr>
        <p:spPr>
          <a:xfrm>
            <a:off x="5636799" y="2228850"/>
            <a:ext cx="2037207" cy="3830955"/>
          </a:xfrm>
          <a:custGeom>
            <a:avLst/>
            <a:gdLst/>
            <a:ahLst/>
            <a:cxnLst/>
            <a:rect l="l" t="t" r="r" b="b"/>
            <a:pathLst>
              <a:path w="2037207" h="3830955">
                <a:moveTo>
                  <a:pt x="1905807" y="0"/>
                </a:moveTo>
                <a:lnTo>
                  <a:pt x="2037207" y="247479"/>
                </a:lnTo>
                <a:lnTo>
                  <a:pt x="2037207" y="495342"/>
                </a:lnTo>
                <a:lnTo>
                  <a:pt x="2037207" y="1714352"/>
                </a:lnTo>
                <a:lnTo>
                  <a:pt x="2037207" y="2933745"/>
                </a:lnTo>
                <a:lnTo>
                  <a:pt x="2037207" y="3067062"/>
                </a:lnTo>
                <a:lnTo>
                  <a:pt x="2037207" y="3200379"/>
                </a:lnTo>
                <a:lnTo>
                  <a:pt x="2037207" y="3333697"/>
                </a:lnTo>
                <a:lnTo>
                  <a:pt x="0" y="383095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7276" y="5095903"/>
            <a:ext cx="1013459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WAN backhaul</a:t>
            </a:r>
          </a:p>
        </p:txBody>
      </p:sp>
      <p:sp>
        <p:nvSpPr>
          <p:cNvPr id="29" name="Freeform 28"/>
          <p:cNvSpPr/>
          <p:nvPr/>
        </p:nvSpPr>
        <p:spPr>
          <a:xfrm>
            <a:off x="4268724" y="2228850"/>
            <a:ext cx="2543841" cy="3818382"/>
          </a:xfrm>
          <a:custGeom>
            <a:avLst/>
            <a:gdLst/>
            <a:ahLst/>
            <a:cxnLst/>
            <a:rect l="l" t="t" r="r" b="b"/>
            <a:pathLst>
              <a:path w="2543841" h="3818382">
                <a:moveTo>
                  <a:pt x="2543841" y="0"/>
                </a:moveTo>
                <a:lnTo>
                  <a:pt x="2323799" y="247812"/>
                </a:lnTo>
                <a:lnTo>
                  <a:pt x="2323799" y="495244"/>
                </a:lnTo>
                <a:lnTo>
                  <a:pt x="2323799" y="1714453"/>
                </a:lnTo>
                <a:lnTo>
                  <a:pt x="2323799" y="2933662"/>
                </a:lnTo>
                <a:lnTo>
                  <a:pt x="2323799" y="3066924"/>
                </a:lnTo>
                <a:lnTo>
                  <a:pt x="2323799" y="3200185"/>
                </a:lnTo>
                <a:lnTo>
                  <a:pt x="2323799" y="3333829"/>
                </a:lnTo>
                <a:lnTo>
                  <a:pt x="0" y="381838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5793" y="5095793"/>
            <a:ext cx="1013459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audit egress</a:t>
            </a:r>
          </a:p>
        </p:txBody>
      </p:sp>
      <p:sp>
        <p:nvSpPr>
          <p:cNvPr id="31" name="Freeform 30"/>
          <p:cNvSpPr/>
          <p:nvPr/>
        </p:nvSpPr>
        <p:spPr>
          <a:xfrm>
            <a:off x="11939016" y="9144857"/>
            <a:ext cx="18179510" cy="2221516"/>
          </a:xfrm>
          <a:custGeom>
            <a:avLst/>
            <a:gdLst/>
            <a:ahLst/>
            <a:cxnLst/>
            <a:rect l="l" t="t" r="r" b="b"/>
            <a:pathLst>
              <a:path w="18179510" h="2221516">
                <a:moveTo>
                  <a:pt x="18179510" y="0"/>
                </a:moveTo>
                <a:lnTo>
                  <a:pt x="18179510" y="913487"/>
                </a:lnTo>
                <a:lnTo>
                  <a:pt x="14107299" y="1161186"/>
                </a:lnTo>
                <a:lnTo>
                  <a:pt x="14107299" y="1408885"/>
                </a:lnTo>
                <a:lnTo>
                  <a:pt x="0" y="2221516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1939016" y="9010650"/>
            <a:ext cx="12940093" cy="2344388"/>
          </a:xfrm>
          <a:custGeom>
            <a:avLst/>
            <a:gdLst/>
            <a:ahLst/>
            <a:cxnLst/>
            <a:rect l="l" t="t" r="r" b="b"/>
            <a:pathLst>
              <a:path w="12940093" h="2344388">
                <a:moveTo>
                  <a:pt x="12940093" y="0"/>
                </a:moveTo>
                <a:lnTo>
                  <a:pt x="12940093" y="1047707"/>
                </a:lnTo>
                <a:lnTo>
                  <a:pt x="11803953" y="1295508"/>
                </a:lnTo>
                <a:lnTo>
                  <a:pt x="11803953" y="1543076"/>
                </a:lnTo>
                <a:lnTo>
                  <a:pt x="0" y="2344388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1938920" y="9124950"/>
            <a:ext cx="9974485" cy="2201132"/>
          </a:xfrm>
          <a:custGeom>
            <a:avLst/>
            <a:gdLst/>
            <a:ahLst/>
            <a:cxnLst/>
            <a:rect l="l" t="t" r="r" b="b"/>
            <a:pathLst>
              <a:path w="9974485" h="2201132">
                <a:moveTo>
                  <a:pt x="9974485" y="0"/>
                </a:moveTo>
                <a:lnTo>
                  <a:pt x="8212991" y="933500"/>
                </a:lnTo>
                <a:lnTo>
                  <a:pt x="8212991" y="1181127"/>
                </a:lnTo>
                <a:lnTo>
                  <a:pt x="8212991" y="1428754"/>
                </a:lnTo>
                <a:lnTo>
                  <a:pt x="0" y="220113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473731" y="10296541"/>
            <a:ext cx="1356359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mode events · SSE</a:t>
            </a:r>
          </a:p>
        </p:txBody>
      </p:sp>
      <p:sp>
        <p:nvSpPr>
          <p:cNvPr id="35" name="Freeform 34"/>
          <p:cNvSpPr/>
          <p:nvPr/>
        </p:nvSpPr>
        <p:spPr>
          <a:xfrm>
            <a:off x="1694021" y="4205287"/>
            <a:ext cx="14773084" cy="1566863"/>
          </a:xfrm>
          <a:custGeom>
            <a:avLst/>
            <a:gdLst/>
            <a:ahLst/>
            <a:cxnLst/>
            <a:rect l="l" t="t" r="r" b="b"/>
            <a:pathLst>
              <a:path w="14773084" h="1566863">
                <a:moveTo>
                  <a:pt x="14773084" y="0"/>
                </a:moveTo>
                <a:lnTo>
                  <a:pt x="14768652" y="957196"/>
                </a:lnTo>
                <a:lnTo>
                  <a:pt x="0" y="1090536"/>
                </a:lnTo>
                <a:lnTo>
                  <a:pt x="0" y="1224033"/>
                </a:lnTo>
                <a:lnTo>
                  <a:pt x="0" y="1357373"/>
                </a:lnTo>
                <a:lnTo>
                  <a:pt x="0" y="156686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5020341" y="4205287"/>
            <a:ext cx="13693331" cy="1566863"/>
          </a:xfrm>
          <a:custGeom>
            <a:avLst/>
            <a:gdLst/>
            <a:ahLst/>
            <a:cxnLst/>
            <a:rect l="l" t="t" r="r" b="b"/>
            <a:pathLst>
              <a:path w="13693331" h="1566863">
                <a:moveTo>
                  <a:pt x="13693331" y="0"/>
                </a:moveTo>
                <a:lnTo>
                  <a:pt x="13689223" y="957196"/>
                </a:lnTo>
                <a:lnTo>
                  <a:pt x="0" y="1090536"/>
                </a:lnTo>
                <a:lnTo>
                  <a:pt x="0" y="1224033"/>
                </a:lnTo>
                <a:lnTo>
                  <a:pt x="0" y="1357373"/>
                </a:lnTo>
                <a:lnTo>
                  <a:pt x="0" y="156686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086439" y="9353550"/>
            <a:ext cx="1644682" cy="1724691"/>
          </a:xfrm>
          <a:custGeom>
            <a:avLst/>
            <a:gdLst/>
            <a:ahLst/>
            <a:cxnLst/>
            <a:rect l="l" t="t" r="r" b="b"/>
            <a:pathLst>
              <a:path w="1644682" h="1724691">
                <a:moveTo>
                  <a:pt x="0" y="0"/>
                </a:moveTo>
                <a:lnTo>
                  <a:pt x="0" y="704881"/>
                </a:lnTo>
                <a:lnTo>
                  <a:pt x="0" y="952547"/>
                </a:lnTo>
                <a:lnTo>
                  <a:pt x="0" y="1200212"/>
                </a:lnTo>
                <a:lnTo>
                  <a:pt x="1644682" y="172469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3969" y="10296580"/>
            <a:ext cx="142494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engineering laptop</a:t>
            </a:r>
          </a:p>
        </p:txBody>
      </p:sp>
      <p:sp>
        <p:nvSpPr>
          <p:cNvPr id="39" name="Freeform 38"/>
          <p:cNvSpPr/>
          <p:nvPr/>
        </p:nvSpPr>
        <p:spPr>
          <a:xfrm>
            <a:off x="7898415" y="6724650"/>
            <a:ext cx="13913549" cy="2060924"/>
          </a:xfrm>
          <a:custGeom>
            <a:avLst/>
            <a:gdLst/>
            <a:ahLst/>
            <a:cxnLst/>
            <a:rect l="l" t="t" r="r" b="b"/>
            <a:pathLst>
              <a:path w="13913549" h="2060924">
                <a:moveTo>
                  <a:pt x="0" y="0"/>
                </a:moveTo>
                <a:lnTo>
                  <a:pt x="0" y="133341"/>
                </a:lnTo>
                <a:lnTo>
                  <a:pt x="0" y="266683"/>
                </a:lnTo>
                <a:lnTo>
                  <a:pt x="0" y="514406"/>
                </a:lnTo>
                <a:lnTo>
                  <a:pt x="0" y="761923"/>
                </a:lnTo>
                <a:lnTo>
                  <a:pt x="0" y="895471"/>
                </a:lnTo>
                <a:lnTo>
                  <a:pt x="13913549" y="206092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85945" y="7229465"/>
            <a:ext cx="142494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local service tool</a:t>
            </a:r>
          </a:p>
        </p:txBody>
      </p:sp>
      <p:sp>
        <p:nvSpPr>
          <p:cNvPr id="41" name="Freeform 40"/>
          <p:cNvSpPr/>
          <p:nvPr/>
        </p:nvSpPr>
        <p:spPr>
          <a:xfrm>
            <a:off x="7944897" y="2106834"/>
            <a:ext cx="9841135" cy="1729550"/>
          </a:xfrm>
          <a:custGeom>
            <a:avLst/>
            <a:gdLst/>
            <a:ahLst/>
            <a:cxnLst/>
            <a:rect l="l" t="t" r="r" b="b"/>
            <a:pathLst>
              <a:path w="9841135" h="1729550">
                <a:moveTo>
                  <a:pt x="0" y="0"/>
                </a:moveTo>
                <a:lnTo>
                  <a:pt x="635738" y="369605"/>
                </a:lnTo>
                <a:lnTo>
                  <a:pt x="635738" y="617276"/>
                </a:lnTo>
                <a:lnTo>
                  <a:pt x="9841135" y="172955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9615" y="2466925"/>
            <a:ext cx="108204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redundant WAN</a:t>
            </a:r>
          </a:p>
        </p:txBody>
      </p:sp>
      <p:sp>
        <p:nvSpPr>
          <p:cNvPr id="43" name="Freeform 42"/>
          <p:cNvSpPr/>
          <p:nvPr/>
        </p:nvSpPr>
        <p:spPr>
          <a:xfrm>
            <a:off x="3027997" y="6398609"/>
            <a:ext cx="7686675" cy="4365212"/>
          </a:xfrm>
          <a:custGeom>
            <a:avLst/>
            <a:gdLst/>
            <a:ahLst/>
            <a:cxnLst/>
            <a:rect l="l" t="t" r="r" b="b"/>
            <a:pathLst>
              <a:path w="7686675" h="4365212">
                <a:moveTo>
                  <a:pt x="1412811" y="0"/>
                </a:moveTo>
                <a:lnTo>
                  <a:pt x="0" y="459220"/>
                </a:lnTo>
                <a:lnTo>
                  <a:pt x="0" y="592796"/>
                </a:lnTo>
                <a:lnTo>
                  <a:pt x="0" y="840303"/>
                </a:lnTo>
                <a:lnTo>
                  <a:pt x="0" y="1087811"/>
                </a:lnTo>
                <a:lnTo>
                  <a:pt x="0" y="1221386"/>
                </a:lnTo>
                <a:lnTo>
                  <a:pt x="7649010" y="2440590"/>
                </a:lnTo>
                <a:lnTo>
                  <a:pt x="7649010" y="3659794"/>
                </a:lnTo>
                <a:lnTo>
                  <a:pt x="7649010" y="3907301"/>
                </a:lnTo>
                <a:lnTo>
                  <a:pt x="7649010" y="4155245"/>
                </a:lnTo>
                <a:lnTo>
                  <a:pt x="7686675" y="436521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00002" y="8096247"/>
            <a:ext cx="19050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handshake → INVESTIGATION</a:t>
            </a:r>
          </a:p>
        </p:txBody>
      </p:sp>
      <p:sp>
        <p:nvSpPr>
          <p:cNvPr id="45" name="Freeform 44"/>
          <p:cNvSpPr/>
          <p:nvPr/>
        </p:nvSpPr>
        <p:spPr>
          <a:xfrm>
            <a:off x="14625161" y="10724102"/>
            <a:ext cx="2571655" cy="635127"/>
          </a:xfrm>
          <a:custGeom>
            <a:avLst/>
            <a:gdLst/>
            <a:ahLst/>
            <a:cxnLst/>
            <a:rect l="l" t="t" r="r" b="b"/>
            <a:pathLst>
              <a:path w="2571655" h="635127">
                <a:moveTo>
                  <a:pt x="2571655" y="0"/>
                </a:moveTo>
                <a:lnTo>
                  <a:pt x="0" y="63512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5929991" y="6991350"/>
            <a:ext cx="0" cy="762000"/>
          </a:xfrm>
          <a:prstGeom prst="line">
            <a:avLst/>
          </a:prstGeom>
          <a:ln w="1270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9376886" y="3404044"/>
            <a:ext cx="3251168" cy="316230"/>
          </a:xfrm>
          <a:custGeom>
            <a:avLst/>
            <a:gdLst/>
            <a:ahLst/>
            <a:cxnLst/>
            <a:rect l="l" t="t" r="r" b="b"/>
            <a:pathLst>
              <a:path w="3251168" h="316230">
                <a:moveTo>
                  <a:pt x="0" y="0"/>
                </a:moveTo>
                <a:lnTo>
                  <a:pt x="3251168" y="31623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6674953" y="3571875"/>
            <a:ext cx="1729835" cy="742950"/>
          </a:xfrm>
          <a:custGeom>
            <a:avLst/>
            <a:gdLst/>
            <a:ahLst/>
            <a:cxnLst/>
            <a:rect l="l" t="t" r="r" b="b"/>
            <a:pathLst>
              <a:path w="1729835" h="742950">
                <a:moveTo>
                  <a:pt x="0" y="742950"/>
                </a:moveTo>
                <a:lnTo>
                  <a:pt x="1358439" y="742950"/>
                </a:lnTo>
                <a:lnTo>
                  <a:pt x="1729835" y="0"/>
                </a:lnTo>
                <a:lnTo>
                  <a:pt x="371395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"SPAN / mirror
process bus
SV + GOOSE"</a:t>
            </a:r>
          </a:p>
        </p:txBody>
      </p:sp>
      <p:sp>
        <p:nvSpPr>
          <p:cNvPr id="49" name="Freeform 48"/>
          <p:cNvSpPr/>
          <p:nvPr/>
        </p:nvSpPr>
        <p:spPr>
          <a:xfrm>
            <a:off x="30740794" y="3571875"/>
            <a:ext cx="2154174" cy="742950"/>
          </a:xfrm>
          <a:custGeom>
            <a:avLst/>
            <a:gdLst/>
            <a:ahLst/>
            <a:cxnLst/>
            <a:rect l="l" t="t" r="r" b="b"/>
            <a:pathLst>
              <a:path w="2154174" h="742950">
                <a:moveTo>
                  <a:pt x="0" y="742950"/>
                </a:moveTo>
                <a:lnTo>
                  <a:pt x="1782794" y="742950"/>
                </a:lnTo>
                <a:lnTo>
                  <a:pt x="2154174" y="0"/>
                </a:lnTo>
                <a:lnTo>
                  <a:pt x="371380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"SPAN / mirror
station bus
MMS + SOE + GOOSE"</a:t>
            </a:r>
          </a:p>
        </p:txBody>
      </p:sp>
      <p:sp>
        <p:nvSpPr>
          <p:cNvPr id="50" name="Freeform 49"/>
          <p:cNvSpPr/>
          <p:nvPr/>
        </p:nvSpPr>
        <p:spPr>
          <a:xfrm>
            <a:off x="22731507" y="3457575"/>
            <a:ext cx="2933700" cy="971550"/>
          </a:xfrm>
          <a:custGeom>
            <a:avLst/>
            <a:gdLst/>
            <a:ahLst/>
            <a:cxnLst/>
            <a:rect l="l" t="t" r="r" b="b"/>
            <a:pathLst>
              <a:path w="2933700" h="971550">
                <a:moveTo>
                  <a:pt x="0" y="971550"/>
                </a:moveTo>
                <a:lnTo>
                  <a:pt x="2447880" y="971550"/>
                </a:lnTo>
                <a:lnTo>
                  <a:pt x="2933700" y="0"/>
                </a:lnTo>
                <a:lnTo>
                  <a:pt x="485821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"Asset-condition feeds
DGA · PD · OLTC · RTD/FBG ·
vib · SF6 · battery · env"</a:t>
            </a:r>
          </a:p>
        </p:txBody>
      </p:sp>
      <p:sp>
        <p:nvSpPr>
          <p:cNvPr id="51" name="Freeform 50"/>
          <p:cNvSpPr/>
          <p:nvPr/>
        </p:nvSpPr>
        <p:spPr>
          <a:xfrm>
            <a:off x="19990498" y="3571875"/>
            <a:ext cx="2531459" cy="742950"/>
          </a:xfrm>
          <a:custGeom>
            <a:avLst/>
            <a:gdLst/>
            <a:ahLst/>
            <a:cxnLst/>
            <a:rect l="l" t="t" r="r" b="b"/>
            <a:pathLst>
              <a:path w="2531459" h="742950">
                <a:moveTo>
                  <a:pt x="0" y="742950"/>
                </a:moveTo>
                <a:lnTo>
                  <a:pt x="2160094" y="742950"/>
                </a:lnTo>
                <a:lnTo>
                  <a:pt x="2531459" y="0"/>
                </a:lnTo>
                <a:lnTo>
                  <a:pt x="371365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"Physical-security feeds
cams · thermal IR · NVR ·
gate · PIR · tamper"</a:t>
            </a:r>
          </a:p>
        </p:txBody>
      </p:sp>
      <p:sp>
        <p:nvSpPr>
          <p:cNvPr id="52" name="Freeform 51"/>
          <p:cNvSpPr/>
          <p:nvPr/>
        </p:nvSpPr>
        <p:spPr>
          <a:xfrm>
            <a:off x="33244631" y="3686175"/>
            <a:ext cx="1966150" cy="514350"/>
          </a:xfrm>
          <a:custGeom>
            <a:avLst/>
            <a:gdLst/>
            <a:ahLst/>
            <a:cxnLst/>
            <a:rect l="l" t="t" r="r" b="b"/>
            <a:pathLst>
              <a:path w="1966150" h="514350">
                <a:moveTo>
                  <a:pt x="0" y="514350"/>
                </a:moveTo>
                <a:lnTo>
                  <a:pt x="1708978" y="514350"/>
                </a:lnTo>
                <a:lnTo>
                  <a:pt x="1966150" y="0"/>
                </a:lnTo>
                <a:lnTo>
                  <a:pt x="257172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"PTP master · 1588v2
(GPS-disciplined)"</a:t>
            </a:r>
          </a:p>
        </p:txBody>
      </p:sp>
      <p:sp>
        <p:nvSpPr>
          <p:cNvPr id="53" name="Freeform 52"/>
          <p:cNvSpPr/>
          <p:nvPr/>
        </p:nvSpPr>
        <p:spPr>
          <a:xfrm>
            <a:off x="15497270" y="3686175"/>
            <a:ext cx="1930146" cy="514350"/>
          </a:xfrm>
          <a:custGeom>
            <a:avLst/>
            <a:gdLst/>
            <a:ahLst/>
            <a:cxnLst/>
            <a:rect l="l" t="t" r="r" b="b"/>
            <a:pathLst>
              <a:path w="1930146" h="514350">
                <a:moveTo>
                  <a:pt x="0" y="514350"/>
                </a:moveTo>
                <a:lnTo>
                  <a:pt x="1673050" y="514350"/>
                </a:lnTo>
                <a:lnTo>
                  <a:pt x="1930146" y="0"/>
                </a:lnTo>
                <a:lnTo>
                  <a:pt x="257095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"SCADA upstream
DNP3 / 60870-5-104"</a:t>
            </a:r>
          </a:p>
        </p:txBody>
      </p:sp>
      <p:sp>
        <p:nvSpPr>
          <p:cNvPr id="54" name="Freeform 53"/>
          <p:cNvSpPr/>
          <p:nvPr/>
        </p:nvSpPr>
        <p:spPr>
          <a:xfrm>
            <a:off x="17636966" y="3686175"/>
            <a:ext cx="2143982" cy="514350"/>
          </a:xfrm>
          <a:custGeom>
            <a:avLst/>
            <a:gdLst/>
            <a:ahLst/>
            <a:cxnLst/>
            <a:rect l="l" t="t" r="r" b="b"/>
            <a:pathLst>
              <a:path w="2143982" h="514350">
                <a:moveTo>
                  <a:pt x="0" y="514350"/>
                </a:moveTo>
                <a:lnTo>
                  <a:pt x="1886704" y="514350"/>
                </a:lnTo>
                <a:lnTo>
                  <a:pt x="2143982" y="0"/>
                </a:lnTo>
                <a:lnTo>
                  <a:pt x="257278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"Corp WAN / jump host
(remote-access router)"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613897" y="5924550"/>
            <a:ext cx="1852041" cy="5715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Process-bus tap
SPAN (RO) · SV + GOOSE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751081" y="5810250"/>
            <a:ext cx="2133600" cy="8001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Station-bus tap
SPAN (RO) · MMS + SOE + GOOSE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131557" y="5695950"/>
            <a:ext cx="2133600" cy="10287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Asset-cond aggregator
RS-485 · 4-20 mA + HART · Modbus TCP
· DNP3 · 61850 MMS · SNMP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89380" y="5695950"/>
            <a:ext cx="2133600" cy="10287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Security aggregator
RTSP / ONVIF · OSDP · BACnet MS/TP
· dry contacts · NVR API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587341" y="8667750"/>
            <a:ext cx="923067" cy="3429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mcp_edge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19863" y="8667750"/>
            <a:ext cx="1370742" cy="3429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llm_orchestrator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300156" y="8667750"/>
            <a:ext cx="1340167" cy="3429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frontier_llm_api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849873" y="8553450"/>
            <a:ext cx="1205484" cy="5715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seal_authority
« stub »</a:t>
            </a:r>
          </a:p>
        </p:txBody>
      </p:sp>
      <p:sp>
        <p:nvSpPr>
          <p:cNvPr id="63" name="Can 62"/>
          <p:cNvSpPr/>
          <p:nvPr/>
        </p:nvSpPr>
        <p:spPr>
          <a:xfrm>
            <a:off x="26862214" y="11004613"/>
            <a:ext cx="984218" cy="850677"/>
          </a:xfrm>
          <a:prstGeom prst="can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GPU Platform
frontier LLM
PCIe card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826519" y="8553450"/>
            <a:ext cx="1132427" cy="5715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dsp_frontend
signal plane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823132" y="8667750"/>
            <a:ext cx="1210246" cy="3429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token_emitter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065603" y="8667750"/>
            <a:ext cx="1344930" cy="3429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grammar_parser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144732" y="8667750"/>
            <a:ext cx="1468755" cy="3429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anomaly_detector</a:t>
            </a:r>
          </a:p>
        </p:txBody>
      </p:sp>
      <p:sp>
        <p:nvSpPr>
          <p:cNvPr id="68" name="Can 67"/>
          <p:cNvSpPr/>
          <p:nvPr/>
        </p:nvSpPr>
        <p:spPr>
          <a:xfrm>
            <a:off x="29620178" y="8642032"/>
            <a:ext cx="996886" cy="394239"/>
          </a:xfrm>
          <a:prstGeom prst="can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capsule_store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168496" y="8667750"/>
            <a:ext cx="884015" cy="34290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voice_tag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767411" y="10801350"/>
            <a:ext cx="2133600" cy="1257300"/>
          </a:xfrm>
          <a:prstGeom prst="rect">
            <a:avLst/>
          </a:prstGeom>
          <a:solidFill>
            <a:srgbClr val="CFFAFE"/>
          </a:solidFill>
          <a:ln w="2540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SME workstation
PyQt6 UI
State Viewer · bus emulator ·
LLM loop · session console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94538" y="1200150"/>
            <a:ext cx="1350359" cy="102870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Cellular modem
4G LTE / 5G NSA
APN + IPsec VPN
MQTT / HTTPS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10259" y="8324850"/>
            <a:ext cx="1352359" cy="102870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Wi-Fi AP
802.11ac
WPA2-Enterprise
(eng only)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72242" y="5695950"/>
            <a:ext cx="1252347" cy="102870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Bluetooth LE
field-engineer
service tool
(pairing-gated)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5270" y="12706350"/>
            <a:ext cx="1400365" cy="80010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SME phone notify
SMS / push
call-out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4678" y="5810250"/>
            <a:ext cx="1678590" cy="80010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Utility control centre
EMS / DMS / OMS
DNP3 / 60870-5-104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2819" y="5924550"/>
            <a:ext cx="1488567" cy="57150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Asset-mgmt portal
batch · NERC CIP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1031" y="5810250"/>
            <a:ext cx="1158811" cy="80010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Remote SME
(on-call)
secure tunnel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491561" y="10687050"/>
            <a:ext cx="2133600" cy="148590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Seal contract gates GPU power.
SEALED ⇄ AWAITING_SME ⇄ INVESTIGATION
is the SME flow. GPU unpowered in SEALED.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863191" y="7753350"/>
            <a:ext cx="2133600" cy="217170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Read-only by design.
Every input on band 1 is a passive copy / aggregation;
the SEC never publishes GOOSE, commands MMS, or trips a CB.
Camera + PD cross-correlation is a target Stage 7e+ use case.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628054" y="2857500"/>
            <a:ext cx="2133600" cy="217170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>Wireless is access, not control.
Cellular = redundant WAN + audit egress;
Wi-Fi = engineering only;
BLE = local field-tool pairing only;
SMS / push = SME call-out for INVESTIGATION.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