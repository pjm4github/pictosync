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8022573" cy="15541561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ctosync_bg_vupgq2u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953" y="381000"/>
            <a:ext cx="47625000" cy="1515427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3387" y="9366408"/>
            <a:ext cx="7918418" cy="6122765"/>
          </a:xfrm>
          <a:prstGeom prst="rect">
            <a:avLst/>
          </a:prstGeom>
          <a:solidFill>
            <a:srgbClr val="FFFFDE"/>
          </a:solidFill>
          <a:ln w="12700">
            <a:solidFill>
              <a:srgbClr val="AAA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👤 Operator · wireless · upstream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14865000" y="10593228"/>
            <a:ext cx="33105185" cy="2351436"/>
          </a:xfrm>
          <a:prstGeom prst="rect">
            <a:avLst/>
          </a:prstGeom>
          <a:solidFill>
            <a:srgbClr val="FFFFDE"/>
          </a:solidFill>
          <a:ln w="12700">
            <a:solidFill>
              <a:srgbClr val="AAA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⚙ Substation Edge Compute (this appliance)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5439" y="5538216"/>
            <a:ext cx="6286023" cy="5986462"/>
          </a:xfrm>
          <a:prstGeom prst="rect">
            <a:avLst/>
          </a:prstGeom>
          <a:solidFill>
            <a:srgbClr val="FFFFDE"/>
          </a:solidFill>
          <a:ln w="12700">
            <a:solidFill>
              <a:srgbClr val="AAA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🏢 Station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1017484" y="5538216"/>
            <a:ext cx="8463057" cy="4759642"/>
          </a:xfrm>
          <a:prstGeom prst="rect">
            <a:avLst/>
          </a:prstGeom>
          <a:solidFill>
            <a:srgbClr val="FFFFDE"/>
          </a:solidFill>
          <a:ln w="12700">
            <a:solidFill>
              <a:srgbClr val="AAA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🔀 Process / bay</a:t>
            </a:r>
          </a:p>
        </p:txBody>
      </p:sp>
      <p:sp>
        <p:nvSpPr>
          <p:cNvPr id="7" name="Rectangle 6"/>
          <p:cNvSpPr/>
          <p:nvPr/>
        </p:nvSpPr>
        <p:spPr>
          <a:xfrm>
            <a:off x="29594079" y="710469"/>
            <a:ext cx="18262568" cy="6111430"/>
          </a:xfrm>
          <a:prstGeom prst="rect">
            <a:avLst/>
          </a:prstGeom>
          <a:solidFill>
            <a:srgbClr val="FFFFDE"/>
          </a:solidFill>
          <a:ln w="12700">
            <a:solidFill>
              <a:srgbClr val="AAA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⚡ Switchyard + sensors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47864" y="11820048"/>
            <a:ext cx="2365914" cy="3589591"/>
          </a:xfrm>
          <a:prstGeom prst="rect">
            <a:avLst/>
          </a:prstGeom>
          <a:solidFill>
            <a:srgbClr val="FFFFDE"/>
          </a:solidFill>
          <a:ln w="12700">
            <a:solidFill>
              <a:srgbClr val="AAA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Upstream (out of substation)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7020" y="9445942"/>
            <a:ext cx="3587305" cy="5963793"/>
          </a:xfrm>
          <a:prstGeom prst="rect">
            <a:avLst/>
          </a:prstGeom>
          <a:solidFill>
            <a:srgbClr val="FFFFDE"/>
          </a:solidFill>
          <a:ln w="12700">
            <a:solidFill>
              <a:srgbClr val="AAA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Wireless / remote access (phone connectivity)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7412" y="13376338"/>
            <a:ext cx="1510855" cy="1317688"/>
          </a:xfrm>
          <a:prstGeom prst="rect">
            <a:avLst/>
          </a:prstGeom>
          <a:solidFill>
            <a:srgbClr val="FFFFDE"/>
          </a:solidFill>
          <a:ln w="12700">
            <a:solidFill>
              <a:srgbClr val="AAA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Operator surfaces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713130" y="11820048"/>
            <a:ext cx="19832193" cy="1045083"/>
          </a:xfrm>
          <a:prstGeom prst="rect">
            <a:avLst/>
          </a:prstGeom>
          <a:solidFill>
            <a:srgbClr val="FFFFDE"/>
          </a:solidFill>
          <a:ln w="12700">
            <a:solidFill>
              <a:srgbClr val="AAA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Safety Module daughtercard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978634" y="10672762"/>
            <a:ext cx="4264818" cy="772477"/>
          </a:xfrm>
          <a:prstGeom prst="rect">
            <a:avLst/>
          </a:prstGeom>
          <a:solidFill>
            <a:srgbClr val="FFFFDE"/>
          </a:solidFill>
          <a:ln w="12700">
            <a:solidFill>
              <a:srgbClr val="AAA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x86 HOST · Cloud Hypervisor microVMs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477958" y="10672762"/>
            <a:ext cx="28378594" cy="772477"/>
          </a:xfrm>
          <a:prstGeom prst="rect">
            <a:avLst/>
          </a:prstGeom>
          <a:solidFill>
            <a:srgbClr val="FFFFDE"/>
          </a:solidFill>
          <a:ln w="12700">
            <a:solidFill>
              <a:srgbClr val="AAA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Inputs (4 channels)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78977" y="5617749"/>
            <a:ext cx="4661535" cy="5827490"/>
          </a:xfrm>
          <a:prstGeom prst="rect">
            <a:avLst/>
          </a:prstGeom>
          <a:solidFill>
            <a:srgbClr val="FFFFDE"/>
          </a:solidFill>
          <a:ln w="12700">
            <a:solidFill>
              <a:srgbClr val="AAA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Station level (control house)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660326" y="8571261"/>
            <a:ext cx="3908679" cy="499776"/>
          </a:xfrm>
          <a:prstGeom prst="rect">
            <a:avLst/>
          </a:prstGeom>
          <a:solidFill>
            <a:srgbClr val="FFFFDE"/>
          </a:solidFill>
          <a:ln w="12700">
            <a:solidFill>
              <a:srgbClr val="AAA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Bay level IEDs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79507" y="5617749"/>
            <a:ext cx="3587305" cy="4600670"/>
          </a:xfrm>
          <a:prstGeom prst="rect">
            <a:avLst/>
          </a:prstGeom>
          <a:solidFill>
            <a:srgbClr val="FFFFDE"/>
          </a:solidFill>
          <a:ln w="12700">
            <a:solidFill>
              <a:srgbClr val="AAA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Process level (MUs + PIUs)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707713" y="4822602"/>
            <a:ext cx="5052155" cy="1919763"/>
          </a:xfrm>
          <a:prstGeom prst="rect">
            <a:avLst/>
          </a:prstGeom>
          <a:solidFill>
            <a:srgbClr val="FFFFDE"/>
          </a:solidFill>
          <a:ln w="12700">
            <a:solidFill>
              <a:srgbClr val="AAA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Physical security + perimeter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513266" y="789908"/>
            <a:ext cx="7450455" cy="579310"/>
          </a:xfrm>
          <a:prstGeom prst="rect">
            <a:avLst/>
          </a:prstGeom>
          <a:solidFill>
            <a:srgbClr val="FFFFDE"/>
          </a:solidFill>
          <a:ln w="12700">
            <a:solidFill>
              <a:srgbClr val="AAA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Asset-condition sensors (PHY · APP)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77354" y="789908"/>
            <a:ext cx="5438489" cy="5952458"/>
          </a:xfrm>
          <a:prstGeom prst="rect">
            <a:avLst/>
          </a:prstGeom>
          <a:solidFill>
            <a:srgbClr val="FFFFDE"/>
          </a:solidFill>
          <a:ln w="12700">
            <a:solidFill>
              <a:srgbClr val="AAA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Switchyard (outdoor)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339893" y="3743420"/>
            <a:ext cx="1749552" cy="2919412"/>
          </a:xfrm>
          <a:prstGeom prst="rect">
            <a:avLst/>
          </a:prstGeom>
          <a:solidFill>
            <a:srgbClr val="FFFFDE"/>
          </a:solidFill>
          <a:ln w="12700">
            <a:solidFill>
              <a:srgbClr val="AAA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MV side · 69 kV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190987" y="869442"/>
            <a:ext cx="5211222" cy="2578608"/>
          </a:xfrm>
          <a:prstGeom prst="rect">
            <a:avLst/>
          </a:prstGeom>
          <a:solidFill>
            <a:srgbClr val="FFFFDE"/>
          </a:solidFill>
          <a:ln w="12700">
            <a:solidFill>
              <a:srgbClr val="AAA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HV side · 230 kV</a:t>
            </a:r>
          </a:p>
        </p:txBody>
      </p:sp>
      <p:sp>
        <p:nvSpPr>
          <p:cNvPr id="22" name="Freeform 21"/>
          <p:cNvSpPr/>
          <p:nvPr/>
        </p:nvSpPr>
        <p:spPr>
          <a:xfrm>
            <a:off x="46570392" y="1221581"/>
            <a:ext cx="339185" cy="330994"/>
          </a:xfrm>
          <a:custGeom>
            <a:avLst/>
            <a:gdLst/>
            <a:ahLst/>
            <a:cxnLst/>
            <a:rect l="l" t="t" r="r" b="b"/>
            <a:pathLst>
              <a:path w="339185" h="330994">
                <a:moveTo>
                  <a:pt x="339185" y="0"/>
                </a:moveTo>
                <a:lnTo>
                  <a:pt x="339185" y="147689"/>
                </a:lnTo>
                <a:lnTo>
                  <a:pt x="339185" y="227194"/>
                </a:lnTo>
                <a:lnTo>
                  <a:pt x="0" y="330994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46548675" y="1862042"/>
            <a:ext cx="241744" cy="143446"/>
          </a:xfrm>
          <a:custGeom>
            <a:avLst/>
            <a:gdLst/>
            <a:ahLst/>
            <a:cxnLst/>
            <a:rect l="l" t="t" r="r" b="b"/>
            <a:pathLst>
              <a:path w="241744" h="143446">
                <a:moveTo>
                  <a:pt x="0" y="0"/>
                </a:moveTo>
                <a:lnTo>
                  <a:pt x="241744" y="86641"/>
                </a:lnTo>
                <a:lnTo>
                  <a:pt x="241744" y="143446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46635924" y="2368962"/>
            <a:ext cx="403669" cy="218313"/>
          </a:xfrm>
          <a:custGeom>
            <a:avLst/>
            <a:gdLst/>
            <a:ahLst/>
            <a:cxnLst/>
            <a:rect l="l" t="t" r="r" b="b"/>
            <a:pathLst>
              <a:path w="403669" h="218313">
                <a:moveTo>
                  <a:pt x="324429" y="0"/>
                </a:moveTo>
                <a:lnTo>
                  <a:pt x="403669" y="79532"/>
                </a:lnTo>
                <a:lnTo>
                  <a:pt x="0" y="218313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3590590" y="2868739"/>
            <a:ext cx="2875598" cy="283274"/>
          </a:xfrm>
          <a:custGeom>
            <a:avLst/>
            <a:gdLst/>
            <a:ahLst/>
            <a:cxnLst/>
            <a:rect l="l" t="t" r="r" b="b"/>
            <a:pathLst>
              <a:path w="2875598" h="283274">
                <a:moveTo>
                  <a:pt x="2826713" y="0"/>
                </a:moveTo>
                <a:lnTo>
                  <a:pt x="2875598" y="79515"/>
                </a:lnTo>
                <a:lnTo>
                  <a:pt x="0" y="283274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4047124" y="4116228"/>
            <a:ext cx="297751" cy="183833"/>
          </a:xfrm>
          <a:custGeom>
            <a:avLst/>
            <a:gdLst/>
            <a:ahLst/>
            <a:cxnLst/>
            <a:rect l="l" t="t" r="r" b="b"/>
            <a:pathLst>
              <a:path w="297751" h="183833">
                <a:moveTo>
                  <a:pt x="0" y="0"/>
                </a:moveTo>
                <a:lnTo>
                  <a:pt x="297751" y="127029"/>
                </a:lnTo>
                <a:lnTo>
                  <a:pt x="297751" y="183833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44344970" y="4663535"/>
            <a:ext cx="0" cy="215836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Freeform 27"/>
          <p:cNvSpPr/>
          <p:nvPr/>
        </p:nvSpPr>
        <p:spPr>
          <a:xfrm>
            <a:off x="44375355" y="5242941"/>
            <a:ext cx="26385" cy="772477"/>
          </a:xfrm>
          <a:custGeom>
            <a:avLst/>
            <a:gdLst/>
            <a:ahLst/>
            <a:cxnLst/>
            <a:rect l="l" t="t" r="r" b="b"/>
            <a:pathLst>
              <a:path w="26385" h="772477">
                <a:moveTo>
                  <a:pt x="0" y="0"/>
                </a:moveTo>
                <a:lnTo>
                  <a:pt x="26385" y="147697"/>
                </a:lnTo>
                <a:lnTo>
                  <a:pt x="26385" y="295395"/>
                </a:lnTo>
                <a:lnTo>
                  <a:pt x="26385" y="374883"/>
                </a:lnTo>
                <a:lnTo>
                  <a:pt x="26385" y="772477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3498198" y="3368611"/>
            <a:ext cx="260890" cy="431673"/>
          </a:xfrm>
          <a:custGeom>
            <a:avLst/>
            <a:gdLst/>
            <a:ahLst/>
            <a:cxnLst/>
            <a:rect l="l" t="t" r="r" b="b"/>
            <a:pathLst>
              <a:path w="260890" h="431673">
                <a:moveTo>
                  <a:pt x="0" y="0"/>
                </a:moveTo>
                <a:lnTo>
                  <a:pt x="260890" y="79514"/>
                </a:lnTo>
                <a:lnTo>
                  <a:pt x="260890" y="227189"/>
                </a:lnTo>
                <a:lnTo>
                  <a:pt x="260890" y="374865"/>
                </a:lnTo>
                <a:lnTo>
                  <a:pt x="260890" y="431673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478672" y="3570578"/>
            <a:ext cx="560832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1">
                <a:solidFill>
                  <a:srgbClr val="333333"/>
                </a:solidFill>
              </a:rPr>
              <a:t>secondary</a:t>
            </a:r>
          </a:p>
        </p:txBody>
      </p:sp>
      <p:sp>
        <p:nvSpPr>
          <p:cNvPr id="31" name="Freeform 30"/>
          <p:cNvSpPr/>
          <p:nvPr/>
        </p:nvSpPr>
        <p:spPr>
          <a:xfrm>
            <a:off x="33166145" y="5235130"/>
            <a:ext cx="837819" cy="720662"/>
          </a:xfrm>
          <a:custGeom>
            <a:avLst/>
            <a:gdLst/>
            <a:ahLst/>
            <a:cxnLst/>
            <a:rect l="l" t="t" r="r" b="b"/>
            <a:pathLst>
              <a:path w="837819" h="720662">
                <a:moveTo>
                  <a:pt x="0" y="0"/>
                </a:moveTo>
                <a:lnTo>
                  <a:pt x="409945" y="155447"/>
                </a:lnTo>
                <a:lnTo>
                  <a:pt x="409945" y="303110"/>
                </a:lnTo>
                <a:lnTo>
                  <a:pt x="409945" y="382599"/>
                </a:lnTo>
                <a:lnTo>
                  <a:pt x="837819" y="720662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33994915" y="5242941"/>
            <a:ext cx="242507" cy="704278"/>
          </a:xfrm>
          <a:custGeom>
            <a:avLst/>
            <a:gdLst/>
            <a:ahLst/>
            <a:cxnLst/>
            <a:rect l="l" t="t" r="r" b="b"/>
            <a:pathLst>
              <a:path w="242507" h="704278">
                <a:moveTo>
                  <a:pt x="0" y="0"/>
                </a:moveTo>
                <a:lnTo>
                  <a:pt x="242507" y="147687"/>
                </a:lnTo>
                <a:lnTo>
                  <a:pt x="242507" y="295374"/>
                </a:lnTo>
                <a:lnTo>
                  <a:pt x="242507" y="374887"/>
                </a:lnTo>
                <a:lnTo>
                  <a:pt x="242507" y="704278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35114293" y="1223962"/>
            <a:ext cx="7676864" cy="1785938"/>
          </a:xfrm>
          <a:custGeom>
            <a:avLst/>
            <a:gdLst/>
            <a:ahLst/>
            <a:cxnLst/>
            <a:rect l="l" t="t" r="r" b="b"/>
            <a:pathLst>
              <a:path w="7676864" h="1785938">
                <a:moveTo>
                  <a:pt x="0" y="0"/>
                </a:moveTo>
                <a:lnTo>
                  <a:pt x="334711" y="145375"/>
                </a:lnTo>
                <a:lnTo>
                  <a:pt x="7628500" y="224850"/>
                </a:lnTo>
                <a:lnTo>
                  <a:pt x="7628500" y="474702"/>
                </a:lnTo>
                <a:lnTo>
                  <a:pt x="7628500" y="724733"/>
                </a:lnTo>
                <a:lnTo>
                  <a:pt x="7628500" y="974586"/>
                </a:lnTo>
                <a:lnTo>
                  <a:pt x="7628500" y="1224439"/>
                </a:lnTo>
                <a:lnTo>
                  <a:pt x="7628500" y="1474470"/>
                </a:lnTo>
                <a:lnTo>
                  <a:pt x="7628500" y="1724323"/>
                </a:lnTo>
                <a:lnTo>
                  <a:pt x="7676864" y="1785938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36126515" y="1289780"/>
            <a:ext cx="6749034" cy="1716405"/>
          </a:xfrm>
          <a:custGeom>
            <a:avLst/>
            <a:gdLst/>
            <a:ahLst/>
            <a:cxnLst/>
            <a:rect l="l" t="t" r="r" b="b"/>
            <a:pathLst>
              <a:path w="6749034" h="1716405">
                <a:moveTo>
                  <a:pt x="0" y="0"/>
                </a:moveTo>
                <a:lnTo>
                  <a:pt x="193022" y="79469"/>
                </a:lnTo>
                <a:lnTo>
                  <a:pt x="6730136" y="159110"/>
                </a:lnTo>
                <a:lnTo>
                  <a:pt x="6730136" y="409019"/>
                </a:lnTo>
                <a:lnTo>
                  <a:pt x="6730136" y="658756"/>
                </a:lnTo>
                <a:lnTo>
                  <a:pt x="6730136" y="908665"/>
                </a:lnTo>
                <a:lnTo>
                  <a:pt x="6730136" y="1158573"/>
                </a:lnTo>
                <a:lnTo>
                  <a:pt x="6730136" y="1408482"/>
                </a:lnTo>
                <a:lnTo>
                  <a:pt x="6730136" y="1658390"/>
                </a:lnTo>
                <a:lnTo>
                  <a:pt x="6749034" y="1716405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36918042" y="1266348"/>
            <a:ext cx="6051995" cy="1738884"/>
          </a:xfrm>
          <a:custGeom>
            <a:avLst/>
            <a:gdLst/>
            <a:ahLst/>
            <a:cxnLst/>
            <a:rect l="l" t="t" r="r" b="b"/>
            <a:pathLst>
              <a:path w="6051995" h="1738884">
                <a:moveTo>
                  <a:pt x="0" y="0"/>
                </a:moveTo>
                <a:lnTo>
                  <a:pt x="212425" y="102942"/>
                </a:lnTo>
                <a:lnTo>
                  <a:pt x="6051995" y="182409"/>
                </a:lnTo>
                <a:lnTo>
                  <a:pt x="6051995" y="432287"/>
                </a:lnTo>
                <a:lnTo>
                  <a:pt x="6051995" y="682338"/>
                </a:lnTo>
                <a:lnTo>
                  <a:pt x="6051995" y="932216"/>
                </a:lnTo>
                <a:lnTo>
                  <a:pt x="6051995" y="1182094"/>
                </a:lnTo>
                <a:lnTo>
                  <a:pt x="6051995" y="1431971"/>
                </a:lnTo>
                <a:lnTo>
                  <a:pt x="6051995" y="1681849"/>
                </a:lnTo>
                <a:lnTo>
                  <a:pt x="6044732" y="1738884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37626036" y="1246822"/>
            <a:ext cx="6007798" cy="1773269"/>
          </a:xfrm>
          <a:custGeom>
            <a:avLst/>
            <a:gdLst/>
            <a:ahLst/>
            <a:cxnLst/>
            <a:rect l="l" t="t" r="r" b="b"/>
            <a:pathLst>
              <a:path w="6007798" h="1773269">
                <a:moveTo>
                  <a:pt x="0" y="0"/>
                </a:moveTo>
                <a:lnTo>
                  <a:pt x="279963" y="122356"/>
                </a:lnTo>
                <a:lnTo>
                  <a:pt x="6007798" y="201975"/>
                </a:lnTo>
                <a:lnTo>
                  <a:pt x="6007798" y="451829"/>
                </a:lnTo>
                <a:lnTo>
                  <a:pt x="6007798" y="701860"/>
                </a:lnTo>
                <a:lnTo>
                  <a:pt x="6007798" y="951714"/>
                </a:lnTo>
                <a:lnTo>
                  <a:pt x="6007798" y="1201567"/>
                </a:lnTo>
                <a:lnTo>
                  <a:pt x="6007798" y="1451598"/>
                </a:lnTo>
                <a:lnTo>
                  <a:pt x="6007798" y="1701452"/>
                </a:lnTo>
                <a:lnTo>
                  <a:pt x="5808339" y="1773269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38573392" y="1289780"/>
            <a:ext cx="6225064" cy="1820894"/>
          </a:xfrm>
          <a:custGeom>
            <a:avLst/>
            <a:gdLst/>
            <a:ahLst/>
            <a:cxnLst/>
            <a:rect l="l" t="t" r="r" b="b"/>
            <a:pathLst>
              <a:path w="6225064" h="1820894">
                <a:moveTo>
                  <a:pt x="0" y="0"/>
                </a:moveTo>
                <a:lnTo>
                  <a:pt x="190487" y="79573"/>
                </a:lnTo>
                <a:lnTo>
                  <a:pt x="6225064" y="158964"/>
                </a:lnTo>
                <a:lnTo>
                  <a:pt x="6225064" y="408973"/>
                </a:lnTo>
                <a:lnTo>
                  <a:pt x="6225064" y="658799"/>
                </a:lnTo>
                <a:lnTo>
                  <a:pt x="6225064" y="908808"/>
                </a:lnTo>
                <a:lnTo>
                  <a:pt x="6225064" y="1158635"/>
                </a:lnTo>
                <a:lnTo>
                  <a:pt x="6225064" y="1408644"/>
                </a:lnTo>
                <a:lnTo>
                  <a:pt x="6225064" y="1658470"/>
                </a:lnTo>
                <a:lnTo>
                  <a:pt x="5016779" y="1820894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39247190" y="1221581"/>
            <a:ext cx="5664804" cy="1894046"/>
          </a:xfrm>
          <a:custGeom>
            <a:avLst/>
            <a:gdLst/>
            <a:ahLst/>
            <a:cxnLst/>
            <a:rect l="l" t="t" r="r" b="b"/>
            <a:pathLst>
              <a:path w="5664804" h="1894046">
                <a:moveTo>
                  <a:pt x="0" y="0"/>
                </a:moveTo>
                <a:lnTo>
                  <a:pt x="285507" y="147735"/>
                </a:lnTo>
                <a:lnTo>
                  <a:pt x="5664804" y="227096"/>
                </a:lnTo>
                <a:lnTo>
                  <a:pt x="5664804" y="477110"/>
                </a:lnTo>
                <a:lnTo>
                  <a:pt x="5664804" y="726935"/>
                </a:lnTo>
                <a:lnTo>
                  <a:pt x="5664804" y="976949"/>
                </a:lnTo>
                <a:lnTo>
                  <a:pt x="5664804" y="1226774"/>
                </a:lnTo>
                <a:lnTo>
                  <a:pt x="5664804" y="1476788"/>
                </a:lnTo>
                <a:lnTo>
                  <a:pt x="5664804" y="1726612"/>
                </a:lnTo>
                <a:lnTo>
                  <a:pt x="4343205" y="1894046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40044338" y="1221581"/>
            <a:ext cx="5571553" cy="312134"/>
          </a:xfrm>
          <a:custGeom>
            <a:avLst/>
            <a:gdLst/>
            <a:ahLst/>
            <a:cxnLst/>
            <a:rect l="l" t="t" r="r" b="b"/>
            <a:pathLst>
              <a:path w="5571553" h="312134">
                <a:moveTo>
                  <a:pt x="0" y="0"/>
                </a:moveTo>
                <a:lnTo>
                  <a:pt x="328164" y="147639"/>
                </a:lnTo>
                <a:lnTo>
                  <a:pt x="5325848" y="227171"/>
                </a:lnTo>
                <a:lnTo>
                  <a:pt x="5571553" y="312134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39759731" y="1221581"/>
            <a:ext cx="6228493" cy="1413796"/>
          </a:xfrm>
          <a:custGeom>
            <a:avLst/>
            <a:gdLst/>
            <a:ahLst/>
            <a:cxnLst/>
            <a:rect l="l" t="t" r="r" b="b"/>
            <a:pathLst>
              <a:path w="6228493" h="1413796">
                <a:moveTo>
                  <a:pt x="33634" y="0"/>
                </a:moveTo>
                <a:lnTo>
                  <a:pt x="0" y="147741"/>
                </a:lnTo>
                <a:lnTo>
                  <a:pt x="5266190" y="227197"/>
                </a:lnTo>
                <a:lnTo>
                  <a:pt x="5266190" y="477156"/>
                </a:lnTo>
                <a:lnTo>
                  <a:pt x="5266190" y="726974"/>
                </a:lnTo>
                <a:lnTo>
                  <a:pt x="5266190" y="976933"/>
                </a:lnTo>
                <a:lnTo>
                  <a:pt x="5266190" y="1226892"/>
                </a:lnTo>
                <a:lnTo>
                  <a:pt x="6228493" y="1413796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3763827" y="6310693"/>
            <a:ext cx="3991356" cy="1282922"/>
          </a:xfrm>
          <a:custGeom>
            <a:avLst/>
            <a:gdLst/>
            <a:ahLst/>
            <a:cxnLst/>
            <a:rect l="l" t="t" r="r" b="b"/>
            <a:pathLst>
              <a:path w="3991356" h="1282922">
                <a:moveTo>
                  <a:pt x="3991356" y="0"/>
                </a:moveTo>
                <a:lnTo>
                  <a:pt x="3991356" y="352162"/>
                </a:lnTo>
                <a:lnTo>
                  <a:pt x="3991356" y="431703"/>
                </a:lnTo>
                <a:lnTo>
                  <a:pt x="3991356" y="511245"/>
                </a:lnTo>
                <a:lnTo>
                  <a:pt x="3991356" y="658909"/>
                </a:lnTo>
                <a:lnTo>
                  <a:pt x="0" y="1282922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23763732" y="6310693"/>
            <a:ext cx="3153632" cy="1260253"/>
          </a:xfrm>
          <a:custGeom>
            <a:avLst/>
            <a:gdLst/>
            <a:ahLst/>
            <a:cxnLst/>
            <a:rect l="l" t="t" r="r" b="b"/>
            <a:pathLst>
              <a:path w="3153632" h="1260253">
                <a:moveTo>
                  <a:pt x="3153632" y="0"/>
                </a:moveTo>
                <a:lnTo>
                  <a:pt x="3153632" y="352115"/>
                </a:lnTo>
                <a:lnTo>
                  <a:pt x="3153632" y="431637"/>
                </a:lnTo>
                <a:lnTo>
                  <a:pt x="3153632" y="511159"/>
                </a:lnTo>
                <a:lnTo>
                  <a:pt x="3153632" y="658860"/>
                </a:lnTo>
                <a:lnTo>
                  <a:pt x="0" y="1260253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23763922" y="6310693"/>
            <a:ext cx="4774406" cy="1297686"/>
          </a:xfrm>
          <a:custGeom>
            <a:avLst/>
            <a:gdLst/>
            <a:ahLst/>
            <a:cxnLst/>
            <a:rect l="l" t="t" r="r" b="b"/>
            <a:pathLst>
              <a:path w="4774406" h="1297686">
                <a:moveTo>
                  <a:pt x="4774406" y="0"/>
                </a:moveTo>
                <a:lnTo>
                  <a:pt x="4774406" y="352192"/>
                </a:lnTo>
                <a:lnTo>
                  <a:pt x="4774406" y="431610"/>
                </a:lnTo>
                <a:lnTo>
                  <a:pt x="4774406" y="511159"/>
                </a:lnTo>
                <a:lnTo>
                  <a:pt x="4774406" y="658835"/>
                </a:lnTo>
                <a:lnTo>
                  <a:pt x="0" y="1297686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23763541" y="6310693"/>
            <a:ext cx="2441353" cy="1231487"/>
          </a:xfrm>
          <a:custGeom>
            <a:avLst/>
            <a:gdLst/>
            <a:ahLst/>
            <a:cxnLst/>
            <a:rect l="l" t="t" r="r" b="b"/>
            <a:pathLst>
              <a:path w="2441353" h="1231487">
                <a:moveTo>
                  <a:pt x="2441353" y="0"/>
                </a:moveTo>
                <a:lnTo>
                  <a:pt x="2441353" y="352205"/>
                </a:lnTo>
                <a:lnTo>
                  <a:pt x="2441353" y="431636"/>
                </a:lnTo>
                <a:lnTo>
                  <a:pt x="2441353" y="511190"/>
                </a:lnTo>
                <a:lnTo>
                  <a:pt x="2441353" y="658846"/>
                </a:lnTo>
                <a:lnTo>
                  <a:pt x="0" y="1231487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23763922" y="7779448"/>
            <a:ext cx="5121212" cy="1882331"/>
          </a:xfrm>
          <a:custGeom>
            <a:avLst/>
            <a:gdLst/>
            <a:ahLst/>
            <a:cxnLst/>
            <a:rect l="l" t="t" r="r" b="b"/>
            <a:pathLst>
              <a:path w="5121212" h="1882331">
                <a:moveTo>
                  <a:pt x="4962966" y="1882331"/>
                </a:moveTo>
                <a:lnTo>
                  <a:pt x="5121212" y="1666427"/>
                </a:lnTo>
                <a:lnTo>
                  <a:pt x="5121212" y="1586993"/>
                </a:lnTo>
                <a:lnTo>
                  <a:pt x="5121212" y="1439230"/>
                </a:lnTo>
                <a:lnTo>
                  <a:pt x="5121212" y="1291655"/>
                </a:lnTo>
                <a:lnTo>
                  <a:pt x="5121212" y="1041682"/>
                </a:lnTo>
                <a:lnTo>
                  <a:pt x="5121212" y="791896"/>
                </a:lnTo>
                <a:lnTo>
                  <a:pt x="5121212" y="644133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23763922" y="7787163"/>
            <a:ext cx="4627055" cy="1874615"/>
          </a:xfrm>
          <a:custGeom>
            <a:avLst/>
            <a:gdLst/>
            <a:ahLst/>
            <a:cxnLst/>
            <a:rect l="l" t="t" r="r" b="b"/>
            <a:pathLst>
              <a:path w="4627055" h="1874615">
                <a:moveTo>
                  <a:pt x="4255965" y="1874615"/>
                </a:moveTo>
                <a:lnTo>
                  <a:pt x="4627055" y="1658847"/>
                </a:lnTo>
                <a:lnTo>
                  <a:pt x="4627055" y="1579176"/>
                </a:lnTo>
                <a:lnTo>
                  <a:pt x="4627055" y="1431644"/>
                </a:lnTo>
                <a:lnTo>
                  <a:pt x="4627055" y="1283924"/>
                </a:lnTo>
                <a:lnTo>
                  <a:pt x="4627055" y="1034038"/>
                </a:lnTo>
                <a:lnTo>
                  <a:pt x="4627055" y="784152"/>
                </a:lnTo>
                <a:lnTo>
                  <a:pt x="4627055" y="636432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23763827" y="7802308"/>
            <a:ext cx="3868864" cy="1927574"/>
          </a:xfrm>
          <a:custGeom>
            <a:avLst/>
            <a:gdLst/>
            <a:ahLst/>
            <a:cxnLst/>
            <a:rect l="l" t="t" r="r" b="b"/>
            <a:pathLst>
              <a:path w="3868864" h="1927574">
                <a:moveTo>
                  <a:pt x="3373263" y="1927574"/>
                </a:moveTo>
                <a:lnTo>
                  <a:pt x="3868864" y="1643643"/>
                </a:lnTo>
                <a:lnTo>
                  <a:pt x="3868864" y="1564034"/>
                </a:lnTo>
                <a:lnTo>
                  <a:pt x="3868864" y="1416382"/>
                </a:lnTo>
                <a:lnTo>
                  <a:pt x="3868864" y="1268729"/>
                </a:lnTo>
                <a:lnTo>
                  <a:pt x="3868864" y="1018916"/>
                </a:lnTo>
                <a:lnTo>
                  <a:pt x="3868864" y="768909"/>
                </a:lnTo>
                <a:lnTo>
                  <a:pt x="3868864" y="621257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23741443" y="7925943"/>
            <a:ext cx="1379696" cy="702087"/>
          </a:xfrm>
          <a:custGeom>
            <a:avLst/>
            <a:gdLst/>
            <a:ahLst/>
            <a:cxnLst/>
            <a:rect l="l" t="t" r="r" b="b"/>
            <a:pathLst>
              <a:path w="1379696" h="702087">
                <a:moveTo>
                  <a:pt x="0" y="0"/>
                </a:moveTo>
                <a:lnTo>
                  <a:pt x="1379696" y="497639"/>
                </a:lnTo>
                <a:lnTo>
                  <a:pt x="1379696" y="645288"/>
                </a:lnTo>
                <a:lnTo>
                  <a:pt x="1379696" y="702087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23659528" y="8003286"/>
            <a:ext cx="759524" cy="624744"/>
          </a:xfrm>
          <a:custGeom>
            <a:avLst/>
            <a:gdLst/>
            <a:ahLst/>
            <a:cxnLst/>
            <a:rect l="l" t="t" r="r" b="b"/>
            <a:pathLst>
              <a:path w="759524" h="624744">
                <a:moveTo>
                  <a:pt x="0" y="0"/>
                </a:moveTo>
                <a:lnTo>
                  <a:pt x="759524" y="420265"/>
                </a:lnTo>
                <a:lnTo>
                  <a:pt x="759524" y="567955"/>
                </a:lnTo>
                <a:lnTo>
                  <a:pt x="759524" y="624744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23379969" y="8003286"/>
            <a:ext cx="376428" cy="624744"/>
          </a:xfrm>
          <a:custGeom>
            <a:avLst/>
            <a:gdLst/>
            <a:ahLst/>
            <a:cxnLst/>
            <a:rect l="l" t="t" r="r" b="b"/>
            <a:pathLst>
              <a:path w="376428" h="624744">
                <a:moveTo>
                  <a:pt x="0" y="0"/>
                </a:moveTo>
                <a:lnTo>
                  <a:pt x="376428" y="420265"/>
                </a:lnTo>
                <a:lnTo>
                  <a:pt x="376428" y="567955"/>
                </a:lnTo>
                <a:lnTo>
                  <a:pt x="376428" y="624744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23054500" y="8003286"/>
            <a:ext cx="29337" cy="624744"/>
          </a:xfrm>
          <a:custGeom>
            <a:avLst/>
            <a:gdLst/>
            <a:ahLst/>
            <a:cxnLst/>
            <a:rect l="l" t="t" r="r" b="b"/>
            <a:pathLst>
              <a:path w="29337" h="624744">
                <a:moveTo>
                  <a:pt x="29337" y="0"/>
                </a:moveTo>
                <a:lnTo>
                  <a:pt x="0" y="420265"/>
                </a:lnTo>
                <a:lnTo>
                  <a:pt x="0" y="567955"/>
                </a:lnTo>
                <a:lnTo>
                  <a:pt x="0" y="624744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22210680" y="8003286"/>
            <a:ext cx="517208" cy="624744"/>
          </a:xfrm>
          <a:custGeom>
            <a:avLst/>
            <a:gdLst/>
            <a:ahLst/>
            <a:cxnLst/>
            <a:rect l="l" t="t" r="r" b="b"/>
            <a:pathLst>
              <a:path w="517208" h="624744">
                <a:moveTo>
                  <a:pt x="517208" y="0"/>
                </a:moveTo>
                <a:lnTo>
                  <a:pt x="0" y="420265"/>
                </a:lnTo>
                <a:lnTo>
                  <a:pt x="0" y="567955"/>
                </a:lnTo>
                <a:lnTo>
                  <a:pt x="0" y="624744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28209335" y="1869090"/>
            <a:ext cx="17740979" cy="4258152"/>
          </a:xfrm>
          <a:custGeom>
            <a:avLst/>
            <a:gdLst/>
            <a:ahLst/>
            <a:cxnLst/>
            <a:rect l="l" t="t" r="r" b="b"/>
            <a:pathLst>
              <a:path w="17740979" h="4258152">
                <a:moveTo>
                  <a:pt x="17740979" y="0"/>
                </a:moveTo>
                <a:lnTo>
                  <a:pt x="17673563" y="79628"/>
                </a:lnTo>
                <a:lnTo>
                  <a:pt x="17673563" y="329581"/>
                </a:lnTo>
                <a:lnTo>
                  <a:pt x="17673563" y="579535"/>
                </a:lnTo>
                <a:lnTo>
                  <a:pt x="17673563" y="829062"/>
                </a:lnTo>
                <a:lnTo>
                  <a:pt x="17673563" y="1079016"/>
                </a:lnTo>
                <a:lnTo>
                  <a:pt x="17673563" y="1328969"/>
                </a:lnTo>
                <a:lnTo>
                  <a:pt x="17673563" y="1578923"/>
                </a:lnTo>
                <a:lnTo>
                  <a:pt x="17673563" y="1726681"/>
                </a:lnTo>
                <a:lnTo>
                  <a:pt x="17673563" y="1874438"/>
                </a:lnTo>
                <a:lnTo>
                  <a:pt x="17673563" y="2124392"/>
                </a:lnTo>
                <a:lnTo>
                  <a:pt x="17673563" y="2374345"/>
                </a:lnTo>
                <a:lnTo>
                  <a:pt x="17673563" y="2624299"/>
                </a:lnTo>
                <a:lnTo>
                  <a:pt x="17673563" y="2873827"/>
                </a:lnTo>
                <a:lnTo>
                  <a:pt x="17673563" y="2953454"/>
                </a:lnTo>
                <a:lnTo>
                  <a:pt x="17673563" y="3203407"/>
                </a:lnTo>
                <a:lnTo>
                  <a:pt x="17673563" y="3521491"/>
                </a:lnTo>
                <a:lnTo>
                  <a:pt x="17673563" y="3669249"/>
                </a:lnTo>
                <a:lnTo>
                  <a:pt x="17673563" y="3748877"/>
                </a:lnTo>
                <a:lnTo>
                  <a:pt x="0" y="4258152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602482" y="3769445"/>
            <a:ext cx="560832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1">
                <a:solidFill>
                  <a:srgbClr val="333333"/>
                </a:solidFill>
              </a:rPr>
              <a:t>CT/VT sec</a:t>
            </a:r>
          </a:p>
        </p:txBody>
      </p:sp>
      <p:sp>
        <p:nvSpPr>
          <p:cNvPr id="55" name="Freeform 54"/>
          <p:cNvSpPr/>
          <p:nvPr/>
        </p:nvSpPr>
        <p:spPr>
          <a:xfrm>
            <a:off x="27221497" y="2868739"/>
            <a:ext cx="19052191" cy="3263360"/>
          </a:xfrm>
          <a:custGeom>
            <a:avLst/>
            <a:gdLst/>
            <a:ahLst/>
            <a:cxnLst/>
            <a:rect l="l" t="t" r="r" b="b"/>
            <a:pathLst>
              <a:path w="19052191" h="3263360">
                <a:moveTo>
                  <a:pt x="19052191" y="0"/>
                </a:moveTo>
                <a:lnTo>
                  <a:pt x="19035044" y="79626"/>
                </a:lnTo>
                <a:lnTo>
                  <a:pt x="19035044" y="329273"/>
                </a:lnTo>
                <a:lnTo>
                  <a:pt x="19035044" y="579246"/>
                </a:lnTo>
                <a:lnTo>
                  <a:pt x="19035044" y="727077"/>
                </a:lnTo>
                <a:lnTo>
                  <a:pt x="19035044" y="874581"/>
                </a:lnTo>
                <a:lnTo>
                  <a:pt x="19035044" y="1124554"/>
                </a:lnTo>
                <a:lnTo>
                  <a:pt x="19035044" y="1374527"/>
                </a:lnTo>
                <a:lnTo>
                  <a:pt x="19035044" y="1624501"/>
                </a:lnTo>
                <a:lnTo>
                  <a:pt x="19035044" y="1874474"/>
                </a:lnTo>
                <a:lnTo>
                  <a:pt x="19035044" y="1953774"/>
                </a:lnTo>
                <a:lnTo>
                  <a:pt x="19035044" y="2203747"/>
                </a:lnTo>
                <a:lnTo>
                  <a:pt x="19035044" y="2521925"/>
                </a:lnTo>
                <a:lnTo>
                  <a:pt x="19035044" y="2669429"/>
                </a:lnTo>
                <a:lnTo>
                  <a:pt x="19035044" y="2749055"/>
                </a:lnTo>
                <a:lnTo>
                  <a:pt x="0" y="3263360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27221497" y="4163758"/>
            <a:ext cx="16429387" cy="1967008"/>
          </a:xfrm>
          <a:custGeom>
            <a:avLst/>
            <a:gdLst/>
            <a:ahLst/>
            <a:cxnLst/>
            <a:rect l="l" t="t" r="r" b="b"/>
            <a:pathLst>
              <a:path w="16429387" h="1967008">
                <a:moveTo>
                  <a:pt x="16429387" y="0"/>
                </a:moveTo>
                <a:lnTo>
                  <a:pt x="16378456" y="79467"/>
                </a:lnTo>
                <a:lnTo>
                  <a:pt x="16378456" y="329474"/>
                </a:lnTo>
                <a:lnTo>
                  <a:pt x="16378456" y="579284"/>
                </a:lnTo>
                <a:lnTo>
                  <a:pt x="16378456" y="658751"/>
                </a:lnTo>
                <a:lnTo>
                  <a:pt x="16378456" y="908758"/>
                </a:lnTo>
                <a:lnTo>
                  <a:pt x="16378456" y="1226823"/>
                </a:lnTo>
                <a:lnTo>
                  <a:pt x="16378456" y="1374545"/>
                </a:lnTo>
                <a:lnTo>
                  <a:pt x="16378456" y="1454012"/>
                </a:lnTo>
                <a:lnTo>
                  <a:pt x="0" y="1967008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28787693" y="2368962"/>
            <a:ext cx="17964055" cy="3764185"/>
          </a:xfrm>
          <a:custGeom>
            <a:avLst/>
            <a:gdLst/>
            <a:ahLst/>
            <a:cxnLst/>
            <a:rect l="l" t="t" r="r" b="b"/>
            <a:pathLst>
              <a:path w="17964055" h="3764185">
                <a:moveTo>
                  <a:pt x="17964055" y="0"/>
                </a:moveTo>
                <a:lnTo>
                  <a:pt x="17946090" y="79425"/>
                </a:lnTo>
                <a:lnTo>
                  <a:pt x="17946090" y="329366"/>
                </a:lnTo>
                <a:lnTo>
                  <a:pt x="17946090" y="579308"/>
                </a:lnTo>
                <a:lnTo>
                  <a:pt x="17946090" y="829250"/>
                </a:lnTo>
                <a:lnTo>
                  <a:pt x="17946090" y="1079192"/>
                </a:lnTo>
                <a:lnTo>
                  <a:pt x="17946090" y="1226748"/>
                </a:lnTo>
                <a:lnTo>
                  <a:pt x="17946090" y="1374681"/>
                </a:lnTo>
                <a:lnTo>
                  <a:pt x="17946090" y="1624246"/>
                </a:lnTo>
                <a:lnTo>
                  <a:pt x="17946090" y="1874188"/>
                </a:lnTo>
                <a:lnTo>
                  <a:pt x="17946090" y="2124130"/>
                </a:lnTo>
                <a:lnTo>
                  <a:pt x="17946090" y="2374072"/>
                </a:lnTo>
                <a:lnTo>
                  <a:pt x="17946090" y="2453496"/>
                </a:lnTo>
                <a:lnTo>
                  <a:pt x="17946090" y="2703438"/>
                </a:lnTo>
                <a:lnTo>
                  <a:pt x="17946090" y="3021511"/>
                </a:lnTo>
                <a:lnTo>
                  <a:pt x="17946090" y="3169444"/>
                </a:lnTo>
                <a:lnTo>
                  <a:pt x="17946090" y="3248868"/>
                </a:lnTo>
                <a:lnTo>
                  <a:pt x="0" y="3764185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26533697" y="5242941"/>
            <a:ext cx="17657445" cy="887825"/>
          </a:xfrm>
          <a:custGeom>
            <a:avLst/>
            <a:gdLst/>
            <a:ahLst/>
            <a:cxnLst/>
            <a:rect l="l" t="t" r="r" b="b"/>
            <a:pathLst>
              <a:path w="17657445" h="887825">
                <a:moveTo>
                  <a:pt x="17657445" y="0"/>
                </a:moveTo>
                <a:lnTo>
                  <a:pt x="17525014" y="147645"/>
                </a:lnTo>
                <a:lnTo>
                  <a:pt x="17525014" y="295379"/>
                </a:lnTo>
                <a:lnTo>
                  <a:pt x="17525014" y="374839"/>
                </a:lnTo>
                <a:lnTo>
                  <a:pt x="0" y="887825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28896468" y="1869090"/>
            <a:ext cx="16783050" cy="7780687"/>
          </a:xfrm>
          <a:custGeom>
            <a:avLst/>
            <a:gdLst/>
            <a:ahLst/>
            <a:cxnLst/>
            <a:rect l="l" t="t" r="r" b="b"/>
            <a:pathLst>
              <a:path w="16783050" h="7780687">
                <a:moveTo>
                  <a:pt x="16783050" y="0"/>
                </a:moveTo>
                <a:lnTo>
                  <a:pt x="16590045" y="79363"/>
                </a:lnTo>
                <a:lnTo>
                  <a:pt x="16590045" y="329123"/>
                </a:lnTo>
                <a:lnTo>
                  <a:pt x="16590045" y="579661"/>
                </a:lnTo>
                <a:lnTo>
                  <a:pt x="16590045" y="829421"/>
                </a:lnTo>
                <a:lnTo>
                  <a:pt x="16590045" y="1079182"/>
                </a:lnTo>
                <a:lnTo>
                  <a:pt x="16590045" y="1328942"/>
                </a:lnTo>
                <a:lnTo>
                  <a:pt x="16590045" y="1578702"/>
                </a:lnTo>
                <a:lnTo>
                  <a:pt x="16590045" y="1726535"/>
                </a:lnTo>
                <a:lnTo>
                  <a:pt x="16590045" y="1874368"/>
                </a:lnTo>
                <a:lnTo>
                  <a:pt x="16590045" y="2124128"/>
                </a:lnTo>
                <a:lnTo>
                  <a:pt x="16590045" y="2373888"/>
                </a:lnTo>
                <a:lnTo>
                  <a:pt x="16590045" y="2624426"/>
                </a:lnTo>
                <a:lnTo>
                  <a:pt x="16590045" y="2874186"/>
                </a:lnTo>
                <a:lnTo>
                  <a:pt x="16590045" y="2953549"/>
                </a:lnTo>
                <a:lnTo>
                  <a:pt x="16590045" y="3203309"/>
                </a:lnTo>
                <a:lnTo>
                  <a:pt x="16590045" y="3521539"/>
                </a:lnTo>
                <a:lnTo>
                  <a:pt x="16590045" y="3669372"/>
                </a:lnTo>
                <a:lnTo>
                  <a:pt x="16590045" y="3748735"/>
                </a:lnTo>
                <a:lnTo>
                  <a:pt x="16590045" y="4270819"/>
                </a:lnTo>
                <a:lnTo>
                  <a:pt x="16590045" y="4793681"/>
                </a:lnTo>
                <a:lnTo>
                  <a:pt x="16590045" y="4873044"/>
                </a:lnTo>
                <a:lnTo>
                  <a:pt x="16590045" y="4952407"/>
                </a:lnTo>
                <a:lnTo>
                  <a:pt x="328948" y="5100240"/>
                </a:lnTo>
                <a:lnTo>
                  <a:pt x="328948" y="5827735"/>
                </a:lnTo>
                <a:lnTo>
                  <a:pt x="328948" y="6554451"/>
                </a:lnTo>
                <a:lnTo>
                  <a:pt x="328948" y="6702284"/>
                </a:lnTo>
                <a:lnTo>
                  <a:pt x="328948" y="6952044"/>
                </a:lnTo>
                <a:lnTo>
                  <a:pt x="328948" y="7201804"/>
                </a:lnTo>
                <a:lnTo>
                  <a:pt x="328948" y="7349637"/>
                </a:lnTo>
                <a:lnTo>
                  <a:pt x="328948" y="7497470"/>
                </a:lnTo>
                <a:lnTo>
                  <a:pt x="328948" y="7576833"/>
                </a:lnTo>
                <a:lnTo>
                  <a:pt x="0" y="7780687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082653" y="5365486"/>
            <a:ext cx="807720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1">
                <a:solidFill>
                  <a:srgbClr val="333333"/>
                </a:solidFill>
              </a:rPr>
              <a:t>aux + trip coil</a:t>
            </a:r>
          </a:p>
        </p:txBody>
      </p:sp>
      <p:sp>
        <p:nvSpPr>
          <p:cNvPr id="61" name="Freeform 60"/>
          <p:cNvSpPr/>
          <p:nvPr/>
        </p:nvSpPr>
        <p:spPr>
          <a:xfrm>
            <a:off x="28108846" y="3368611"/>
            <a:ext cx="14822234" cy="6347651"/>
          </a:xfrm>
          <a:custGeom>
            <a:avLst/>
            <a:gdLst/>
            <a:ahLst/>
            <a:cxnLst/>
            <a:rect l="l" t="t" r="r" b="b"/>
            <a:pathLst>
              <a:path w="14822234" h="6347651">
                <a:moveTo>
                  <a:pt x="14822234" y="0"/>
                </a:moveTo>
                <a:lnTo>
                  <a:pt x="14817787" y="79346"/>
                </a:lnTo>
                <a:lnTo>
                  <a:pt x="14817787" y="227246"/>
                </a:lnTo>
                <a:lnTo>
                  <a:pt x="14817787" y="375146"/>
                </a:lnTo>
                <a:lnTo>
                  <a:pt x="14817787" y="624609"/>
                </a:lnTo>
                <a:lnTo>
                  <a:pt x="14817787" y="874706"/>
                </a:lnTo>
                <a:lnTo>
                  <a:pt x="14817787" y="1124804"/>
                </a:lnTo>
                <a:lnTo>
                  <a:pt x="14817787" y="1374266"/>
                </a:lnTo>
                <a:lnTo>
                  <a:pt x="14817787" y="1454247"/>
                </a:lnTo>
                <a:lnTo>
                  <a:pt x="14817787" y="1703709"/>
                </a:lnTo>
                <a:lnTo>
                  <a:pt x="14817787" y="2021727"/>
                </a:lnTo>
                <a:lnTo>
                  <a:pt x="14817787" y="2169627"/>
                </a:lnTo>
                <a:lnTo>
                  <a:pt x="14817787" y="2248973"/>
                </a:lnTo>
                <a:lnTo>
                  <a:pt x="14817787" y="2772019"/>
                </a:lnTo>
                <a:lnTo>
                  <a:pt x="14817787" y="3294431"/>
                </a:lnTo>
                <a:lnTo>
                  <a:pt x="14817787" y="3373776"/>
                </a:lnTo>
                <a:lnTo>
                  <a:pt x="14817787" y="3453122"/>
                </a:lnTo>
                <a:lnTo>
                  <a:pt x="889334" y="3601022"/>
                </a:lnTo>
                <a:lnTo>
                  <a:pt x="889334" y="4327828"/>
                </a:lnTo>
                <a:lnTo>
                  <a:pt x="889334" y="5055269"/>
                </a:lnTo>
                <a:lnTo>
                  <a:pt x="889334" y="5202534"/>
                </a:lnTo>
                <a:lnTo>
                  <a:pt x="889334" y="5452632"/>
                </a:lnTo>
                <a:lnTo>
                  <a:pt x="889334" y="5702729"/>
                </a:lnTo>
                <a:lnTo>
                  <a:pt x="889334" y="5849995"/>
                </a:lnTo>
                <a:lnTo>
                  <a:pt x="889334" y="5997895"/>
                </a:lnTo>
                <a:lnTo>
                  <a:pt x="889334" y="6077241"/>
                </a:lnTo>
                <a:lnTo>
                  <a:pt x="0" y="6347651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2543347" y="6302776"/>
            <a:ext cx="766571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1">
                <a:solidFill>
                  <a:srgbClr val="333333"/>
                </a:solidFill>
              </a:rPr>
              <a:t>OLTC + cooling</a:t>
            </a:r>
          </a:p>
        </p:txBody>
      </p:sp>
      <p:sp>
        <p:nvSpPr>
          <p:cNvPr id="63" name="Freeform 62"/>
          <p:cNvSpPr/>
          <p:nvPr/>
        </p:nvSpPr>
        <p:spPr>
          <a:xfrm>
            <a:off x="27264455" y="5221033"/>
            <a:ext cx="16785907" cy="4556284"/>
          </a:xfrm>
          <a:custGeom>
            <a:avLst/>
            <a:gdLst/>
            <a:ahLst/>
            <a:cxnLst/>
            <a:rect l="l" t="t" r="r" b="b"/>
            <a:pathLst>
              <a:path w="16785907" h="4556284">
                <a:moveTo>
                  <a:pt x="16785907" y="0"/>
                </a:moveTo>
                <a:lnTo>
                  <a:pt x="16450189" y="169494"/>
                </a:lnTo>
                <a:lnTo>
                  <a:pt x="16450189" y="317117"/>
                </a:lnTo>
                <a:lnTo>
                  <a:pt x="16450189" y="396852"/>
                </a:lnTo>
                <a:lnTo>
                  <a:pt x="16450189" y="919458"/>
                </a:lnTo>
                <a:lnTo>
                  <a:pt x="16450189" y="1441608"/>
                </a:lnTo>
                <a:lnTo>
                  <a:pt x="16450189" y="1521343"/>
                </a:lnTo>
                <a:lnTo>
                  <a:pt x="16450189" y="1600622"/>
                </a:lnTo>
                <a:lnTo>
                  <a:pt x="1848128" y="1748702"/>
                </a:lnTo>
                <a:lnTo>
                  <a:pt x="1848128" y="2475429"/>
                </a:lnTo>
                <a:lnTo>
                  <a:pt x="1848128" y="3202612"/>
                </a:lnTo>
                <a:lnTo>
                  <a:pt x="1848128" y="3350235"/>
                </a:lnTo>
                <a:lnTo>
                  <a:pt x="1848128" y="3599920"/>
                </a:lnTo>
                <a:lnTo>
                  <a:pt x="1848128" y="3850060"/>
                </a:lnTo>
                <a:lnTo>
                  <a:pt x="1848128" y="3997683"/>
                </a:lnTo>
                <a:lnTo>
                  <a:pt x="1848128" y="4145307"/>
                </a:lnTo>
                <a:lnTo>
                  <a:pt x="1848128" y="4225042"/>
                </a:lnTo>
                <a:lnTo>
                  <a:pt x="0" y="4556284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25235058" y="8991600"/>
            <a:ext cx="2955227" cy="719137"/>
          </a:xfrm>
          <a:custGeom>
            <a:avLst/>
            <a:gdLst/>
            <a:ahLst/>
            <a:cxnLst/>
            <a:rect l="l" t="t" r="r" b="b"/>
            <a:pathLst>
              <a:path w="2955227" h="719137">
                <a:moveTo>
                  <a:pt x="0" y="0"/>
                </a:moveTo>
                <a:lnTo>
                  <a:pt x="53194" y="79536"/>
                </a:lnTo>
                <a:lnTo>
                  <a:pt x="2058316" y="227175"/>
                </a:lnTo>
                <a:lnTo>
                  <a:pt x="2058316" y="374886"/>
                </a:lnTo>
                <a:lnTo>
                  <a:pt x="2058316" y="454351"/>
                </a:lnTo>
                <a:lnTo>
                  <a:pt x="2955227" y="719137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6992384" y="9193570"/>
            <a:ext cx="601980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1">
                <a:solidFill>
                  <a:srgbClr val="333333"/>
                </a:solidFill>
              </a:rPr>
              <a:t>GOOSE trip</a:t>
            </a:r>
          </a:p>
        </p:txBody>
      </p:sp>
      <p:sp>
        <p:nvSpPr>
          <p:cNvPr id="66" name="Freeform 65"/>
          <p:cNvSpPr/>
          <p:nvPr/>
        </p:nvSpPr>
        <p:spPr>
          <a:xfrm>
            <a:off x="24619648" y="8991600"/>
            <a:ext cx="2726150" cy="693229"/>
          </a:xfrm>
          <a:custGeom>
            <a:avLst/>
            <a:gdLst/>
            <a:ahLst/>
            <a:cxnLst/>
            <a:rect l="l" t="t" r="r" b="b"/>
            <a:pathLst>
              <a:path w="2726150" h="693229">
                <a:moveTo>
                  <a:pt x="0" y="0"/>
                </a:moveTo>
                <a:lnTo>
                  <a:pt x="93507" y="79513"/>
                </a:lnTo>
                <a:lnTo>
                  <a:pt x="2108405" y="227171"/>
                </a:lnTo>
                <a:lnTo>
                  <a:pt x="2108405" y="374898"/>
                </a:lnTo>
                <a:lnTo>
                  <a:pt x="2108405" y="454411"/>
                </a:lnTo>
                <a:lnTo>
                  <a:pt x="2726150" y="693229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6427063" y="9193574"/>
            <a:ext cx="601980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1">
                <a:solidFill>
                  <a:srgbClr val="333333"/>
                </a:solidFill>
              </a:rPr>
              <a:t>GOOSE trip</a:t>
            </a:r>
          </a:p>
        </p:txBody>
      </p:sp>
      <p:sp>
        <p:nvSpPr>
          <p:cNvPr id="68" name="Freeform 67"/>
          <p:cNvSpPr/>
          <p:nvPr/>
        </p:nvSpPr>
        <p:spPr>
          <a:xfrm>
            <a:off x="23255097" y="8991600"/>
            <a:ext cx="3472529" cy="728472"/>
          </a:xfrm>
          <a:custGeom>
            <a:avLst/>
            <a:gdLst/>
            <a:ahLst/>
            <a:cxnLst/>
            <a:rect l="l" t="t" r="r" b="b"/>
            <a:pathLst>
              <a:path w="3472529" h="728472">
                <a:moveTo>
                  <a:pt x="0" y="0"/>
                </a:moveTo>
                <a:lnTo>
                  <a:pt x="93758" y="79549"/>
                </a:lnTo>
                <a:lnTo>
                  <a:pt x="2907895" y="227210"/>
                </a:lnTo>
                <a:lnTo>
                  <a:pt x="2907895" y="374871"/>
                </a:lnTo>
                <a:lnTo>
                  <a:pt x="2907895" y="454420"/>
                </a:lnTo>
                <a:lnTo>
                  <a:pt x="3472529" y="728472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5862002" y="9193581"/>
            <a:ext cx="601980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1">
                <a:solidFill>
                  <a:srgbClr val="333333"/>
                </a:solidFill>
              </a:rPr>
              <a:t>GOOSE trip</a:t>
            </a:r>
          </a:p>
        </p:txBody>
      </p:sp>
      <p:sp>
        <p:nvSpPr>
          <p:cNvPr id="70" name="Freeform 69"/>
          <p:cNvSpPr/>
          <p:nvPr/>
        </p:nvSpPr>
        <p:spPr>
          <a:xfrm>
            <a:off x="12820935" y="10041255"/>
            <a:ext cx="538925" cy="892778"/>
          </a:xfrm>
          <a:custGeom>
            <a:avLst/>
            <a:gdLst/>
            <a:ahLst/>
            <a:cxnLst/>
            <a:rect l="l" t="t" r="r" b="b"/>
            <a:pathLst>
              <a:path w="538925" h="892778">
                <a:moveTo>
                  <a:pt x="538925" y="0"/>
                </a:moveTo>
                <a:lnTo>
                  <a:pt x="0" y="177127"/>
                </a:lnTo>
                <a:lnTo>
                  <a:pt x="0" y="256673"/>
                </a:lnTo>
                <a:lnTo>
                  <a:pt x="0" y="404339"/>
                </a:lnTo>
                <a:lnTo>
                  <a:pt x="0" y="552004"/>
                </a:lnTo>
                <a:lnTo>
                  <a:pt x="0" y="631551"/>
                </a:lnTo>
                <a:lnTo>
                  <a:pt x="0" y="892778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12098178" y="9961626"/>
            <a:ext cx="1261682" cy="904303"/>
          </a:xfrm>
          <a:custGeom>
            <a:avLst/>
            <a:gdLst/>
            <a:ahLst/>
            <a:cxnLst/>
            <a:rect l="l" t="t" r="r" b="b"/>
            <a:pathLst>
              <a:path w="1261682" h="904303">
                <a:moveTo>
                  <a:pt x="1261682" y="0"/>
                </a:moveTo>
                <a:lnTo>
                  <a:pt x="0" y="256822"/>
                </a:lnTo>
                <a:lnTo>
                  <a:pt x="0" y="336310"/>
                </a:lnTo>
                <a:lnTo>
                  <a:pt x="0" y="483983"/>
                </a:lnTo>
                <a:lnTo>
                  <a:pt x="0" y="631655"/>
                </a:lnTo>
                <a:lnTo>
                  <a:pt x="0" y="711144"/>
                </a:lnTo>
                <a:lnTo>
                  <a:pt x="0" y="904303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11202638" y="9920097"/>
            <a:ext cx="2157222" cy="945737"/>
          </a:xfrm>
          <a:custGeom>
            <a:avLst/>
            <a:gdLst/>
            <a:ahLst/>
            <a:cxnLst/>
            <a:rect l="l" t="t" r="r" b="b"/>
            <a:pathLst>
              <a:path w="2157222" h="945737">
                <a:moveTo>
                  <a:pt x="2157222" y="0"/>
                </a:moveTo>
                <a:lnTo>
                  <a:pt x="0" y="298285"/>
                </a:lnTo>
                <a:lnTo>
                  <a:pt x="0" y="377727"/>
                </a:lnTo>
                <a:lnTo>
                  <a:pt x="0" y="525451"/>
                </a:lnTo>
                <a:lnTo>
                  <a:pt x="0" y="673081"/>
                </a:lnTo>
                <a:lnTo>
                  <a:pt x="0" y="752617"/>
                </a:lnTo>
                <a:lnTo>
                  <a:pt x="0" y="945737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10224420" y="9897332"/>
            <a:ext cx="3135440" cy="968597"/>
          </a:xfrm>
          <a:custGeom>
            <a:avLst/>
            <a:gdLst/>
            <a:ahLst/>
            <a:cxnLst/>
            <a:rect l="l" t="t" r="r" b="b"/>
            <a:pathLst>
              <a:path w="3135440" h="968597">
                <a:moveTo>
                  <a:pt x="3135440" y="0"/>
                </a:moveTo>
                <a:lnTo>
                  <a:pt x="0" y="321090"/>
                </a:lnTo>
                <a:lnTo>
                  <a:pt x="0" y="400612"/>
                </a:lnTo>
                <a:lnTo>
                  <a:pt x="0" y="548323"/>
                </a:lnTo>
                <a:lnTo>
                  <a:pt x="0" y="695937"/>
                </a:lnTo>
                <a:lnTo>
                  <a:pt x="0" y="775459"/>
                </a:lnTo>
                <a:lnTo>
                  <a:pt x="0" y="968597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11349228" y="6378892"/>
            <a:ext cx="1988248" cy="3349847"/>
          </a:xfrm>
          <a:custGeom>
            <a:avLst/>
            <a:gdLst/>
            <a:ahLst/>
            <a:cxnLst/>
            <a:rect l="l" t="t" r="r" b="b"/>
            <a:pathLst>
              <a:path w="1988248" h="3349847">
                <a:moveTo>
                  <a:pt x="0" y="0"/>
                </a:moveTo>
                <a:lnTo>
                  <a:pt x="186895" y="284067"/>
                </a:lnTo>
                <a:lnTo>
                  <a:pt x="186895" y="363458"/>
                </a:lnTo>
                <a:lnTo>
                  <a:pt x="186895" y="442850"/>
                </a:lnTo>
                <a:lnTo>
                  <a:pt x="186895" y="590578"/>
                </a:lnTo>
                <a:lnTo>
                  <a:pt x="186895" y="1317830"/>
                </a:lnTo>
                <a:lnTo>
                  <a:pt x="186895" y="2044747"/>
                </a:lnTo>
                <a:lnTo>
                  <a:pt x="186895" y="2192475"/>
                </a:lnTo>
                <a:lnTo>
                  <a:pt x="186895" y="2442374"/>
                </a:lnTo>
                <a:lnTo>
                  <a:pt x="186895" y="2692272"/>
                </a:lnTo>
                <a:lnTo>
                  <a:pt x="186895" y="2840000"/>
                </a:lnTo>
                <a:lnTo>
                  <a:pt x="186895" y="2987394"/>
                </a:lnTo>
                <a:lnTo>
                  <a:pt x="186895" y="3067120"/>
                </a:lnTo>
                <a:lnTo>
                  <a:pt x="1988248" y="3349847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1235133" y="8398443"/>
            <a:ext cx="601980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1">
                <a:solidFill>
                  <a:srgbClr val="333333"/>
                </a:solidFill>
              </a:rPr>
              <a:t>PTP master</a:t>
            </a:r>
          </a:p>
        </p:txBody>
      </p:sp>
      <p:sp>
        <p:nvSpPr>
          <p:cNvPr id="76" name="Freeform 75"/>
          <p:cNvSpPr/>
          <p:nvPr/>
        </p:nvSpPr>
        <p:spPr>
          <a:xfrm>
            <a:off x="14654879" y="8991600"/>
            <a:ext cx="10265664" cy="817054"/>
          </a:xfrm>
          <a:custGeom>
            <a:avLst/>
            <a:gdLst/>
            <a:ahLst/>
            <a:cxnLst/>
            <a:rect l="l" t="t" r="r" b="b"/>
            <a:pathLst>
              <a:path w="10265664" h="817054">
                <a:moveTo>
                  <a:pt x="10265664" y="0"/>
                </a:moveTo>
                <a:lnTo>
                  <a:pt x="10172246" y="79499"/>
                </a:lnTo>
                <a:lnTo>
                  <a:pt x="10172246" y="227141"/>
                </a:lnTo>
                <a:lnTo>
                  <a:pt x="10172246" y="374864"/>
                </a:lnTo>
                <a:lnTo>
                  <a:pt x="10172246" y="454364"/>
                </a:lnTo>
                <a:lnTo>
                  <a:pt x="0" y="817054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14654879" y="8991600"/>
            <a:ext cx="9577006" cy="815530"/>
          </a:xfrm>
          <a:custGeom>
            <a:avLst/>
            <a:gdLst/>
            <a:ahLst/>
            <a:cxnLst/>
            <a:rect l="l" t="t" r="r" b="b"/>
            <a:pathLst>
              <a:path w="9577006" h="815530">
                <a:moveTo>
                  <a:pt x="9577006" y="0"/>
                </a:moveTo>
                <a:lnTo>
                  <a:pt x="9489855" y="79514"/>
                </a:lnTo>
                <a:lnTo>
                  <a:pt x="9489855" y="227206"/>
                </a:lnTo>
                <a:lnTo>
                  <a:pt x="9489855" y="374899"/>
                </a:lnTo>
                <a:lnTo>
                  <a:pt x="9489855" y="454413"/>
                </a:lnTo>
                <a:lnTo>
                  <a:pt x="0" y="815530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14654879" y="8991600"/>
            <a:ext cx="9101518" cy="814578"/>
          </a:xfrm>
          <a:custGeom>
            <a:avLst/>
            <a:gdLst/>
            <a:ahLst/>
            <a:cxnLst/>
            <a:rect l="l" t="t" r="r" b="b"/>
            <a:pathLst>
              <a:path w="9101518" h="814578">
                <a:moveTo>
                  <a:pt x="9101518" y="0"/>
                </a:moveTo>
                <a:lnTo>
                  <a:pt x="9101518" y="79502"/>
                </a:lnTo>
                <a:lnTo>
                  <a:pt x="9101518" y="227185"/>
                </a:lnTo>
                <a:lnTo>
                  <a:pt x="9101518" y="374868"/>
                </a:lnTo>
                <a:lnTo>
                  <a:pt x="9101518" y="454371"/>
                </a:lnTo>
                <a:lnTo>
                  <a:pt x="0" y="814578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14654879" y="8991600"/>
            <a:ext cx="8150733" cy="811339"/>
          </a:xfrm>
          <a:custGeom>
            <a:avLst/>
            <a:gdLst/>
            <a:ahLst/>
            <a:cxnLst/>
            <a:rect l="l" t="t" r="r" b="b"/>
            <a:pathLst>
              <a:path w="8150733" h="811339">
                <a:moveTo>
                  <a:pt x="8150733" y="0"/>
                </a:moveTo>
                <a:lnTo>
                  <a:pt x="8034177" y="79511"/>
                </a:lnTo>
                <a:lnTo>
                  <a:pt x="8034177" y="227175"/>
                </a:lnTo>
                <a:lnTo>
                  <a:pt x="8034177" y="374838"/>
                </a:lnTo>
                <a:lnTo>
                  <a:pt x="8034177" y="454350"/>
                </a:lnTo>
                <a:lnTo>
                  <a:pt x="0" y="811339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14654879" y="8991600"/>
            <a:ext cx="7555801" cy="809625"/>
          </a:xfrm>
          <a:custGeom>
            <a:avLst/>
            <a:gdLst/>
            <a:ahLst/>
            <a:cxnLst/>
            <a:rect l="l" t="t" r="r" b="b"/>
            <a:pathLst>
              <a:path w="7555801" h="809625">
                <a:moveTo>
                  <a:pt x="7555801" y="0"/>
                </a:moveTo>
                <a:lnTo>
                  <a:pt x="7555801" y="79505"/>
                </a:lnTo>
                <a:lnTo>
                  <a:pt x="7555801" y="227180"/>
                </a:lnTo>
                <a:lnTo>
                  <a:pt x="7555801" y="374856"/>
                </a:lnTo>
                <a:lnTo>
                  <a:pt x="7555801" y="454361"/>
                </a:lnTo>
                <a:lnTo>
                  <a:pt x="0" y="809625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11192160" y="6378892"/>
            <a:ext cx="11254359" cy="1277493"/>
          </a:xfrm>
          <a:custGeom>
            <a:avLst/>
            <a:gdLst/>
            <a:ahLst/>
            <a:cxnLst/>
            <a:rect l="l" t="t" r="r" b="b"/>
            <a:pathLst>
              <a:path w="11254359" h="1277493">
                <a:moveTo>
                  <a:pt x="0" y="0"/>
                </a:moveTo>
                <a:lnTo>
                  <a:pt x="0" y="283987"/>
                </a:lnTo>
                <a:lnTo>
                  <a:pt x="0" y="363447"/>
                </a:lnTo>
                <a:lnTo>
                  <a:pt x="0" y="443035"/>
                </a:lnTo>
                <a:lnTo>
                  <a:pt x="0" y="590713"/>
                </a:lnTo>
                <a:lnTo>
                  <a:pt x="11254359" y="1277493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891170" y="6683073"/>
            <a:ext cx="601980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1">
                <a:solidFill>
                  <a:srgbClr val="333333"/>
                </a:solidFill>
              </a:rPr>
              <a:t>PTP master</a:t>
            </a:r>
          </a:p>
        </p:txBody>
      </p:sp>
      <p:sp>
        <p:nvSpPr>
          <p:cNvPr id="83" name="Freeform 82"/>
          <p:cNvSpPr/>
          <p:nvPr/>
        </p:nvSpPr>
        <p:spPr>
          <a:xfrm>
            <a:off x="18358485" y="11205400"/>
            <a:ext cx="588740" cy="828580"/>
          </a:xfrm>
          <a:custGeom>
            <a:avLst/>
            <a:gdLst/>
            <a:ahLst/>
            <a:cxnLst/>
            <a:rect l="l" t="t" r="r" b="b"/>
            <a:pathLst>
              <a:path w="588740" h="828580">
                <a:moveTo>
                  <a:pt x="0" y="0"/>
                </a:moveTo>
                <a:lnTo>
                  <a:pt x="588740" y="239791"/>
                </a:lnTo>
                <a:lnTo>
                  <a:pt x="588740" y="319335"/>
                </a:lnTo>
                <a:lnTo>
                  <a:pt x="588740" y="466988"/>
                </a:lnTo>
                <a:lnTo>
                  <a:pt x="588740" y="614640"/>
                </a:lnTo>
                <a:lnTo>
                  <a:pt x="588740" y="828580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8646235" y="11499501"/>
            <a:ext cx="601980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1">
                <a:solidFill>
                  <a:srgbClr val="333333"/>
                </a:solidFill>
              </a:rPr>
              <a:t>power gate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21546693" y="11229403"/>
            <a:ext cx="0" cy="988314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233386" y="11297507"/>
            <a:ext cx="0" cy="920210"/>
          </a:xfrm>
          <a:prstGeom prst="line">
            <a:avLst/>
          </a:prstGeom>
          <a:ln w="127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Freeform 86"/>
          <p:cNvSpPr/>
          <p:nvPr/>
        </p:nvSpPr>
        <p:spPr>
          <a:xfrm>
            <a:off x="35806951" y="11365706"/>
            <a:ext cx="2255425" cy="901065"/>
          </a:xfrm>
          <a:custGeom>
            <a:avLst/>
            <a:gdLst/>
            <a:ahLst/>
            <a:cxnLst/>
            <a:rect l="l" t="t" r="r" b="b"/>
            <a:pathLst>
              <a:path w="2255425" h="901065">
                <a:moveTo>
                  <a:pt x="2255425" y="0"/>
                </a:moveTo>
                <a:lnTo>
                  <a:pt x="2255425" y="79474"/>
                </a:lnTo>
                <a:lnTo>
                  <a:pt x="2255425" y="159038"/>
                </a:lnTo>
                <a:lnTo>
                  <a:pt x="2255425" y="306722"/>
                </a:lnTo>
                <a:lnTo>
                  <a:pt x="2255425" y="454407"/>
                </a:lnTo>
                <a:lnTo>
                  <a:pt x="0" y="901065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Freeform 87"/>
          <p:cNvSpPr/>
          <p:nvPr/>
        </p:nvSpPr>
        <p:spPr>
          <a:xfrm>
            <a:off x="32381856" y="11365706"/>
            <a:ext cx="2658714" cy="911066"/>
          </a:xfrm>
          <a:custGeom>
            <a:avLst/>
            <a:gdLst/>
            <a:ahLst/>
            <a:cxnLst/>
            <a:rect l="l" t="t" r="r" b="b"/>
            <a:pathLst>
              <a:path w="2658714" h="911066">
                <a:moveTo>
                  <a:pt x="0" y="0"/>
                </a:moveTo>
                <a:lnTo>
                  <a:pt x="0" y="79536"/>
                </a:lnTo>
                <a:lnTo>
                  <a:pt x="0" y="159072"/>
                </a:lnTo>
                <a:lnTo>
                  <a:pt x="0" y="306665"/>
                </a:lnTo>
                <a:lnTo>
                  <a:pt x="0" y="454348"/>
                </a:lnTo>
                <a:lnTo>
                  <a:pt x="2658714" y="911066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Freeform 88"/>
          <p:cNvSpPr/>
          <p:nvPr/>
        </p:nvSpPr>
        <p:spPr>
          <a:xfrm>
            <a:off x="21546693" y="7993284"/>
            <a:ext cx="922496" cy="2872645"/>
          </a:xfrm>
          <a:custGeom>
            <a:avLst/>
            <a:gdLst/>
            <a:ahLst/>
            <a:cxnLst/>
            <a:rect l="l" t="t" r="r" b="b"/>
            <a:pathLst>
              <a:path w="922496" h="2872645">
                <a:moveTo>
                  <a:pt x="922496" y="0"/>
                </a:moveTo>
                <a:lnTo>
                  <a:pt x="0" y="430322"/>
                </a:lnTo>
                <a:lnTo>
                  <a:pt x="0" y="577976"/>
                </a:lnTo>
                <a:lnTo>
                  <a:pt x="0" y="827896"/>
                </a:lnTo>
                <a:lnTo>
                  <a:pt x="0" y="1077817"/>
                </a:lnTo>
                <a:lnTo>
                  <a:pt x="0" y="1225471"/>
                </a:lnTo>
                <a:lnTo>
                  <a:pt x="0" y="1373124"/>
                </a:lnTo>
                <a:lnTo>
                  <a:pt x="0" y="1452697"/>
                </a:lnTo>
                <a:lnTo>
                  <a:pt x="0" y="1838780"/>
                </a:lnTo>
                <a:lnTo>
                  <a:pt x="0" y="2225151"/>
                </a:lnTo>
                <a:lnTo>
                  <a:pt x="0" y="2304723"/>
                </a:lnTo>
                <a:lnTo>
                  <a:pt x="0" y="2452377"/>
                </a:lnTo>
                <a:lnTo>
                  <a:pt x="0" y="2600031"/>
                </a:lnTo>
                <a:lnTo>
                  <a:pt x="0" y="2679603"/>
                </a:lnTo>
                <a:lnTo>
                  <a:pt x="0" y="2872645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1183981" y="9539962"/>
            <a:ext cx="725424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1">
                <a:solidFill>
                  <a:srgbClr val="333333"/>
                </a:solidFill>
              </a:rPr>
              <a:t>SPAN / mirror</a:t>
            </a:r>
          </a:p>
        </p:txBody>
      </p:sp>
      <p:sp>
        <p:nvSpPr>
          <p:cNvPr id="91" name="Freeform 90"/>
          <p:cNvSpPr/>
          <p:nvPr/>
        </p:nvSpPr>
        <p:spPr>
          <a:xfrm>
            <a:off x="14108620" y="10070687"/>
            <a:ext cx="5466017" cy="946213"/>
          </a:xfrm>
          <a:custGeom>
            <a:avLst/>
            <a:gdLst/>
            <a:ahLst/>
            <a:cxnLst/>
            <a:rect l="l" t="t" r="r" b="b"/>
            <a:pathLst>
              <a:path w="5466017" h="946213">
                <a:moveTo>
                  <a:pt x="0" y="0"/>
                </a:moveTo>
                <a:lnTo>
                  <a:pt x="69965" y="147704"/>
                </a:lnTo>
                <a:lnTo>
                  <a:pt x="69965" y="227186"/>
                </a:lnTo>
                <a:lnTo>
                  <a:pt x="69965" y="374890"/>
                </a:lnTo>
                <a:lnTo>
                  <a:pt x="69965" y="522499"/>
                </a:lnTo>
                <a:lnTo>
                  <a:pt x="69965" y="602075"/>
                </a:lnTo>
                <a:lnTo>
                  <a:pt x="5466017" y="946213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3815873" y="10420321"/>
            <a:ext cx="725424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1">
                <a:solidFill>
                  <a:srgbClr val="333333"/>
                </a:solidFill>
              </a:rPr>
              <a:t>SPAN / mirror</a:t>
            </a:r>
          </a:p>
        </p:txBody>
      </p:sp>
      <p:sp>
        <p:nvSpPr>
          <p:cNvPr id="93" name="Freeform 92"/>
          <p:cNvSpPr/>
          <p:nvPr/>
        </p:nvSpPr>
        <p:spPr>
          <a:xfrm>
            <a:off x="34873406" y="1289780"/>
            <a:ext cx="2530221" cy="9689401"/>
          </a:xfrm>
          <a:custGeom>
            <a:avLst/>
            <a:gdLst/>
            <a:ahLst/>
            <a:cxnLst/>
            <a:rect l="l" t="t" r="r" b="b"/>
            <a:pathLst>
              <a:path w="2530221" h="9689401">
                <a:moveTo>
                  <a:pt x="0" y="0"/>
                </a:moveTo>
                <a:lnTo>
                  <a:pt x="0" y="79453"/>
                </a:lnTo>
                <a:lnTo>
                  <a:pt x="0" y="158906"/>
                </a:lnTo>
                <a:lnTo>
                  <a:pt x="0" y="408892"/>
                </a:lnTo>
                <a:lnTo>
                  <a:pt x="0" y="658879"/>
                </a:lnTo>
                <a:lnTo>
                  <a:pt x="0" y="908866"/>
                </a:lnTo>
                <a:lnTo>
                  <a:pt x="0" y="1158852"/>
                </a:lnTo>
                <a:lnTo>
                  <a:pt x="0" y="1408839"/>
                </a:lnTo>
                <a:lnTo>
                  <a:pt x="0" y="1658825"/>
                </a:lnTo>
                <a:lnTo>
                  <a:pt x="0" y="1908812"/>
                </a:lnTo>
                <a:lnTo>
                  <a:pt x="0" y="2157829"/>
                </a:lnTo>
                <a:lnTo>
                  <a:pt x="0" y="2306077"/>
                </a:lnTo>
                <a:lnTo>
                  <a:pt x="0" y="2453356"/>
                </a:lnTo>
                <a:lnTo>
                  <a:pt x="0" y="2703343"/>
                </a:lnTo>
                <a:lnTo>
                  <a:pt x="0" y="2953329"/>
                </a:lnTo>
                <a:lnTo>
                  <a:pt x="0" y="3203316"/>
                </a:lnTo>
                <a:lnTo>
                  <a:pt x="0" y="3453302"/>
                </a:lnTo>
                <a:lnTo>
                  <a:pt x="0" y="3532756"/>
                </a:lnTo>
                <a:lnTo>
                  <a:pt x="0" y="3782742"/>
                </a:lnTo>
                <a:lnTo>
                  <a:pt x="0" y="4100554"/>
                </a:lnTo>
                <a:lnTo>
                  <a:pt x="0" y="4248802"/>
                </a:lnTo>
                <a:lnTo>
                  <a:pt x="0" y="4328255"/>
                </a:lnTo>
                <a:lnTo>
                  <a:pt x="0" y="4850514"/>
                </a:lnTo>
                <a:lnTo>
                  <a:pt x="0" y="5372773"/>
                </a:lnTo>
                <a:lnTo>
                  <a:pt x="0" y="5452226"/>
                </a:lnTo>
                <a:lnTo>
                  <a:pt x="0" y="5531679"/>
                </a:lnTo>
                <a:lnTo>
                  <a:pt x="0" y="5679927"/>
                </a:lnTo>
                <a:lnTo>
                  <a:pt x="0" y="6406632"/>
                </a:lnTo>
                <a:lnTo>
                  <a:pt x="0" y="7133337"/>
                </a:lnTo>
                <a:lnTo>
                  <a:pt x="0" y="7281585"/>
                </a:lnTo>
                <a:lnTo>
                  <a:pt x="0" y="7531572"/>
                </a:lnTo>
                <a:lnTo>
                  <a:pt x="0" y="7781558"/>
                </a:lnTo>
                <a:lnTo>
                  <a:pt x="0" y="7928837"/>
                </a:lnTo>
                <a:lnTo>
                  <a:pt x="0" y="8077085"/>
                </a:lnTo>
                <a:lnTo>
                  <a:pt x="0" y="8156538"/>
                </a:lnTo>
                <a:lnTo>
                  <a:pt x="0" y="8542176"/>
                </a:lnTo>
                <a:lnTo>
                  <a:pt x="0" y="8928783"/>
                </a:lnTo>
                <a:lnTo>
                  <a:pt x="0" y="9008236"/>
                </a:lnTo>
                <a:lnTo>
                  <a:pt x="0" y="9155515"/>
                </a:lnTo>
                <a:lnTo>
                  <a:pt x="0" y="9303763"/>
                </a:lnTo>
                <a:lnTo>
                  <a:pt x="0" y="9383216"/>
                </a:lnTo>
                <a:lnTo>
                  <a:pt x="2530221" y="9689401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35562635" y="1289780"/>
            <a:ext cx="1841087" cy="9667494"/>
          </a:xfrm>
          <a:custGeom>
            <a:avLst/>
            <a:gdLst/>
            <a:ahLst/>
            <a:cxnLst/>
            <a:rect l="l" t="t" r="r" b="b"/>
            <a:pathLst>
              <a:path w="1841087" h="9667494">
                <a:moveTo>
                  <a:pt x="47684" y="0"/>
                </a:moveTo>
                <a:lnTo>
                  <a:pt x="0" y="79273"/>
                </a:lnTo>
                <a:lnTo>
                  <a:pt x="0" y="159513"/>
                </a:lnTo>
                <a:lnTo>
                  <a:pt x="0" y="408935"/>
                </a:lnTo>
                <a:lnTo>
                  <a:pt x="0" y="659323"/>
                </a:lnTo>
                <a:lnTo>
                  <a:pt x="0" y="908744"/>
                </a:lnTo>
                <a:lnTo>
                  <a:pt x="0" y="1159132"/>
                </a:lnTo>
                <a:lnTo>
                  <a:pt x="0" y="1408554"/>
                </a:lnTo>
                <a:lnTo>
                  <a:pt x="0" y="1658942"/>
                </a:lnTo>
                <a:lnTo>
                  <a:pt x="0" y="1908363"/>
                </a:lnTo>
                <a:lnTo>
                  <a:pt x="0" y="2158751"/>
                </a:lnTo>
                <a:lnTo>
                  <a:pt x="0" y="2305697"/>
                </a:lnTo>
                <a:lnTo>
                  <a:pt x="0" y="2453610"/>
                </a:lnTo>
                <a:lnTo>
                  <a:pt x="0" y="2703998"/>
                </a:lnTo>
                <a:lnTo>
                  <a:pt x="0" y="2953419"/>
                </a:lnTo>
                <a:lnTo>
                  <a:pt x="0" y="3203807"/>
                </a:lnTo>
                <a:lnTo>
                  <a:pt x="0" y="3453229"/>
                </a:lnTo>
                <a:lnTo>
                  <a:pt x="0" y="3532502"/>
                </a:lnTo>
                <a:lnTo>
                  <a:pt x="0" y="3782890"/>
                </a:lnTo>
                <a:lnTo>
                  <a:pt x="0" y="4100951"/>
                </a:lnTo>
                <a:lnTo>
                  <a:pt x="0" y="4248863"/>
                </a:lnTo>
                <a:lnTo>
                  <a:pt x="0" y="4328137"/>
                </a:lnTo>
                <a:lnTo>
                  <a:pt x="0" y="4850181"/>
                </a:lnTo>
                <a:lnTo>
                  <a:pt x="0" y="5373193"/>
                </a:lnTo>
                <a:lnTo>
                  <a:pt x="0" y="5452466"/>
                </a:lnTo>
                <a:lnTo>
                  <a:pt x="0" y="5531740"/>
                </a:lnTo>
                <a:lnTo>
                  <a:pt x="0" y="5679652"/>
                </a:lnTo>
                <a:lnTo>
                  <a:pt x="0" y="6406648"/>
                </a:lnTo>
                <a:lnTo>
                  <a:pt x="0" y="7133644"/>
                </a:lnTo>
                <a:lnTo>
                  <a:pt x="0" y="7281556"/>
                </a:lnTo>
                <a:lnTo>
                  <a:pt x="0" y="7530978"/>
                </a:lnTo>
                <a:lnTo>
                  <a:pt x="0" y="7781366"/>
                </a:lnTo>
                <a:lnTo>
                  <a:pt x="0" y="7929278"/>
                </a:lnTo>
                <a:lnTo>
                  <a:pt x="0" y="8076224"/>
                </a:lnTo>
                <a:lnTo>
                  <a:pt x="0" y="8156464"/>
                </a:lnTo>
                <a:lnTo>
                  <a:pt x="0" y="8542197"/>
                </a:lnTo>
                <a:lnTo>
                  <a:pt x="0" y="8928897"/>
                </a:lnTo>
                <a:lnTo>
                  <a:pt x="0" y="9008171"/>
                </a:lnTo>
                <a:lnTo>
                  <a:pt x="0" y="9156083"/>
                </a:lnTo>
                <a:lnTo>
                  <a:pt x="0" y="9303029"/>
                </a:lnTo>
                <a:lnTo>
                  <a:pt x="0" y="9383269"/>
                </a:lnTo>
                <a:lnTo>
                  <a:pt x="1841087" y="9667494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36433220" y="1289780"/>
            <a:ext cx="970883" cy="9613201"/>
          </a:xfrm>
          <a:custGeom>
            <a:avLst/>
            <a:gdLst/>
            <a:ahLst/>
            <a:cxnLst/>
            <a:rect l="l" t="t" r="r" b="b"/>
            <a:pathLst>
              <a:path w="970883" h="9613201">
                <a:moveTo>
                  <a:pt x="57670" y="0"/>
                </a:moveTo>
                <a:lnTo>
                  <a:pt x="0" y="79789"/>
                </a:lnTo>
                <a:lnTo>
                  <a:pt x="0" y="158618"/>
                </a:lnTo>
                <a:lnTo>
                  <a:pt x="0" y="408561"/>
                </a:lnTo>
                <a:lnTo>
                  <a:pt x="0" y="658504"/>
                </a:lnTo>
                <a:lnTo>
                  <a:pt x="0" y="908447"/>
                </a:lnTo>
                <a:lnTo>
                  <a:pt x="0" y="1158391"/>
                </a:lnTo>
                <a:lnTo>
                  <a:pt x="0" y="1408334"/>
                </a:lnTo>
                <a:lnTo>
                  <a:pt x="0" y="1658277"/>
                </a:lnTo>
                <a:lnTo>
                  <a:pt x="0" y="1908220"/>
                </a:lnTo>
                <a:lnTo>
                  <a:pt x="0" y="2158163"/>
                </a:lnTo>
                <a:lnTo>
                  <a:pt x="0" y="2306207"/>
                </a:lnTo>
                <a:lnTo>
                  <a:pt x="0" y="2453289"/>
                </a:lnTo>
                <a:lnTo>
                  <a:pt x="0" y="2703232"/>
                </a:lnTo>
                <a:lnTo>
                  <a:pt x="0" y="2953175"/>
                </a:lnTo>
                <a:lnTo>
                  <a:pt x="0" y="3203118"/>
                </a:lnTo>
                <a:lnTo>
                  <a:pt x="0" y="3453062"/>
                </a:lnTo>
                <a:lnTo>
                  <a:pt x="0" y="3532851"/>
                </a:lnTo>
                <a:lnTo>
                  <a:pt x="0" y="3782795"/>
                </a:lnTo>
                <a:lnTo>
                  <a:pt x="0" y="4100992"/>
                </a:lnTo>
                <a:lnTo>
                  <a:pt x="0" y="4248073"/>
                </a:lnTo>
                <a:lnTo>
                  <a:pt x="0" y="4327863"/>
                </a:lnTo>
                <a:lnTo>
                  <a:pt x="0" y="4850821"/>
                </a:lnTo>
                <a:lnTo>
                  <a:pt x="0" y="5372818"/>
                </a:lnTo>
                <a:lnTo>
                  <a:pt x="0" y="5452608"/>
                </a:lnTo>
                <a:lnTo>
                  <a:pt x="0" y="5532397"/>
                </a:lnTo>
                <a:lnTo>
                  <a:pt x="0" y="5679479"/>
                </a:lnTo>
                <a:lnTo>
                  <a:pt x="0" y="6407199"/>
                </a:lnTo>
                <a:lnTo>
                  <a:pt x="0" y="7133957"/>
                </a:lnTo>
                <a:lnTo>
                  <a:pt x="0" y="7281039"/>
                </a:lnTo>
                <a:lnTo>
                  <a:pt x="0" y="7530982"/>
                </a:lnTo>
                <a:lnTo>
                  <a:pt x="0" y="7780925"/>
                </a:lnTo>
                <a:lnTo>
                  <a:pt x="0" y="7928968"/>
                </a:lnTo>
                <a:lnTo>
                  <a:pt x="0" y="8077012"/>
                </a:lnTo>
                <a:lnTo>
                  <a:pt x="0" y="8155840"/>
                </a:lnTo>
                <a:lnTo>
                  <a:pt x="0" y="8542291"/>
                </a:lnTo>
                <a:lnTo>
                  <a:pt x="0" y="8928741"/>
                </a:lnTo>
                <a:lnTo>
                  <a:pt x="0" y="9008531"/>
                </a:lnTo>
                <a:lnTo>
                  <a:pt x="0" y="9155613"/>
                </a:lnTo>
                <a:lnTo>
                  <a:pt x="0" y="9303656"/>
                </a:lnTo>
                <a:lnTo>
                  <a:pt x="0" y="9383446"/>
                </a:lnTo>
                <a:lnTo>
                  <a:pt x="970883" y="9613201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37244083" y="1289780"/>
            <a:ext cx="161544" cy="9459277"/>
          </a:xfrm>
          <a:custGeom>
            <a:avLst/>
            <a:gdLst/>
            <a:ahLst/>
            <a:cxnLst/>
            <a:rect l="l" t="t" r="r" b="b"/>
            <a:pathLst>
              <a:path w="161544" h="9459277">
                <a:moveTo>
                  <a:pt x="28755" y="0"/>
                </a:moveTo>
                <a:lnTo>
                  <a:pt x="0" y="79458"/>
                </a:lnTo>
                <a:lnTo>
                  <a:pt x="0" y="158916"/>
                </a:lnTo>
                <a:lnTo>
                  <a:pt x="0" y="408641"/>
                </a:lnTo>
                <a:lnTo>
                  <a:pt x="0" y="659311"/>
                </a:lnTo>
                <a:lnTo>
                  <a:pt x="0" y="909036"/>
                </a:lnTo>
                <a:lnTo>
                  <a:pt x="0" y="1158761"/>
                </a:lnTo>
                <a:lnTo>
                  <a:pt x="0" y="1408486"/>
                </a:lnTo>
                <a:lnTo>
                  <a:pt x="0" y="1658211"/>
                </a:lnTo>
                <a:lnTo>
                  <a:pt x="0" y="1907936"/>
                </a:lnTo>
                <a:lnTo>
                  <a:pt x="0" y="2158607"/>
                </a:lnTo>
                <a:lnTo>
                  <a:pt x="0" y="2306172"/>
                </a:lnTo>
                <a:lnTo>
                  <a:pt x="0" y="2453736"/>
                </a:lnTo>
                <a:lnTo>
                  <a:pt x="0" y="2703461"/>
                </a:lnTo>
                <a:lnTo>
                  <a:pt x="0" y="2953186"/>
                </a:lnTo>
                <a:lnTo>
                  <a:pt x="0" y="3203857"/>
                </a:lnTo>
                <a:lnTo>
                  <a:pt x="0" y="3453582"/>
                </a:lnTo>
                <a:lnTo>
                  <a:pt x="0" y="3533040"/>
                </a:lnTo>
                <a:lnTo>
                  <a:pt x="0" y="3782765"/>
                </a:lnTo>
                <a:lnTo>
                  <a:pt x="0" y="4100597"/>
                </a:lnTo>
                <a:lnTo>
                  <a:pt x="0" y="4248161"/>
                </a:lnTo>
                <a:lnTo>
                  <a:pt x="0" y="4327619"/>
                </a:lnTo>
                <a:lnTo>
                  <a:pt x="0" y="4850717"/>
                </a:lnTo>
                <a:lnTo>
                  <a:pt x="0" y="5372869"/>
                </a:lnTo>
                <a:lnTo>
                  <a:pt x="0" y="5452327"/>
                </a:lnTo>
                <a:lnTo>
                  <a:pt x="0" y="5531785"/>
                </a:lnTo>
                <a:lnTo>
                  <a:pt x="0" y="5679350"/>
                </a:lnTo>
                <a:lnTo>
                  <a:pt x="0" y="6406768"/>
                </a:lnTo>
                <a:lnTo>
                  <a:pt x="0" y="7134187"/>
                </a:lnTo>
                <a:lnTo>
                  <a:pt x="0" y="7281752"/>
                </a:lnTo>
                <a:lnTo>
                  <a:pt x="0" y="7531476"/>
                </a:lnTo>
                <a:lnTo>
                  <a:pt x="0" y="7781201"/>
                </a:lnTo>
                <a:lnTo>
                  <a:pt x="0" y="7928766"/>
                </a:lnTo>
                <a:lnTo>
                  <a:pt x="0" y="8076331"/>
                </a:lnTo>
                <a:lnTo>
                  <a:pt x="0" y="8155789"/>
                </a:lnTo>
                <a:lnTo>
                  <a:pt x="0" y="8542673"/>
                </a:lnTo>
                <a:lnTo>
                  <a:pt x="0" y="8928612"/>
                </a:lnTo>
                <a:lnTo>
                  <a:pt x="0" y="9008070"/>
                </a:lnTo>
                <a:lnTo>
                  <a:pt x="0" y="9155634"/>
                </a:lnTo>
                <a:lnTo>
                  <a:pt x="0" y="9303199"/>
                </a:lnTo>
                <a:lnTo>
                  <a:pt x="0" y="9382657"/>
                </a:lnTo>
                <a:lnTo>
                  <a:pt x="161544" y="9459277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38019609" y="1289780"/>
            <a:ext cx="46482" cy="9439942"/>
          </a:xfrm>
          <a:custGeom>
            <a:avLst/>
            <a:gdLst/>
            <a:ahLst/>
            <a:cxnLst/>
            <a:rect l="l" t="t" r="r" b="b"/>
            <a:pathLst>
              <a:path w="46482" h="9439942">
                <a:moveTo>
                  <a:pt x="46482" y="0"/>
                </a:moveTo>
                <a:lnTo>
                  <a:pt x="0" y="79295"/>
                </a:lnTo>
                <a:lnTo>
                  <a:pt x="0" y="158591"/>
                </a:lnTo>
                <a:lnTo>
                  <a:pt x="0" y="408749"/>
                </a:lnTo>
                <a:lnTo>
                  <a:pt x="0" y="658908"/>
                </a:lnTo>
                <a:lnTo>
                  <a:pt x="0" y="909066"/>
                </a:lnTo>
                <a:lnTo>
                  <a:pt x="0" y="1158281"/>
                </a:lnTo>
                <a:lnTo>
                  <a:pt x="0" y="1408439"/>
                </a:lnTo>
                <a:lnTo>
                  <a:pt x="0" y="1658598"/>
                </a:lnTo>
                <a:lnTo>
                  <a:pt x="0" y="1908756"/>
                </a:lnTo>
                <a:lnTo>
                  <a:pt x="0" y="2157970"/>
                </a:lnTo>
                <a:lnTo>
                  <a:pt x="0" y="2306178"/>
                </a:lnTo>
                <a:lnTo>
                  <a:pt x="0" y="2453441"/>
                </a:lnTo>
                <a:lnTo>
                  <a:pt x="0" y="2703599"/>
                </a:lnTo>
                <a:lnTo>
                  <a:pt x="0" y="2953758"/>
                </a:lnTo>
                <a:lnTo>
                  <a:pt x="0" y="3202972"/>
                </a:lnTo>
                <a:lnTo>
                  <a:pt x="0" y="3453130"/>
                </a:lnTo>
                <a:lnTo>
                  <a:pt x="0" y="3532426"/>
                </a:lnTo>
                <a:lnTo>
                  <a:pt x="0" y="3782584"/>
                </a:lnTo>
                <a:lnTo>
                  <a:pt x="0" y="4100710"/>
                </a:lnTo>
                <a:lnTo>
                  <a:pt x="0" y="4248918"/>
                </a:lnTo>
                <a:lnTo>
                  <a:pt x="0" y="4328213"/>
                </a:lnTo>
                <a:lnTo>
                  <a:pt x="0" y="4850242"/>
                </a:lnTo>
                <a:lnTo>
                  <a:pt x="0" y="5373215"/>
                </a:lnTo>
                <a:lnTo>
                  <a:pt x="0" y="5452510"/>
                </a:lnTo>
                <a:lnTo>
                  <a:pt x="0" y="5531806"/>
                </a:lnTo>
                <a:lnTo>
                  <a:pt x="0" y="5680013"/>
                </a:lnTo>
                <a:lnTo>
                  <a:pt x="0" y="6406888"/>
                </a:lnTo>
                <a:lnTo>
                  <a:pt x="0" y="7133764"/>
                </a:lnTo>
                <a:lnTo>
                  <a:pt x="0" y="7281027"/>
                </a:lnTo>
                <a:lnTo>
                  <a:pt x="0" y="7531185"/>
                </a:lnTo>
                <a:lnTo>
                  <a:pt x="0" y="7781344"/>
                </a:lnTo>
                <a:lnTo>
                  <a:pt x="0" y="7928607"/>
                </a:lnTo>
                <a:lnTo>
                  <a:pt x="0" y="8076814"/>
                </a:lnTo>
                <a:lnTo>
                  <a:pt x="0" y="8156109"/>
                </a:lnTo>
                <a:lnTo>
                  <a:pt x="0" y="8542203"/>
                </a:lnTo>
                <a:lnTo>
                  <a:pt x="0" y="8928297"/>
                </a:lnTo>
                <a:lnTo>
                  <a:pt x="0" y="9008536"/>
                </a:lnTo>
                <a:lnTo>
                  <a:pt x="0" y="9155799"/>
                </a:lnTo>
                <a:lnTo>
                  <a:pt x="0" y="9303062"/>
                </a:lnTo>
                <a:lnTo>
                  <a:pt x="0" y="9383302"/>
                </a:lnTo>
                <a:lnTo>
                  <a:pt x="6293" y="9439942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38719029" y="1221581"/>
            <a:ext cx="260128" cy="9526143"/>
          </a:xfrm>
          <a:custGeom>
            <a:avLst/>
            <a:gdLst/>
            <a:ahLst/>
            <a:cxnLst/>
            <a:rect l="l" t="t" r="r" b="b"/>
            <a:pathLst>
              <a:path w="260128" h="9526143">
                <a:moveTo>
                  <a:pt x="260128" y="0"/>
                </a:moveTo>
                <a:lnTo>
                  <a:pt x="158236" y="147655"/>
                </a:lnTo>
                <a:lnTo>
                  <a:pt x="158236" y="226722"/>
                </a:lnTo>
                <a:lnTo>
                  <a:pt x="158236" y="477260"/>
                </a:lnTo>
                <a:lnTo>
                  <a:pt x="158236" y="726844"/>
                </a:lnTo>
                <a:lnTo>
                  <a:pt x="158236" y="977382"/>
                </a:lnTo>
                <a:lnTo>
                  <a:pt x="158236" y="1226967"/>
                </a:lnTo>
                <a:lnTo>
                  <a:pt x="158236" y="1476552"/>
                </a:lnTo>
                <a:lnTo>
                  <a:pt x="158236" y="1727089"/>
                </a:lnTo>
                <a:lnTo>
                  <a:pt x="158236" y="1976674"/>
                </a:lnTo>
                <a:lnTo>
                  <a:pt x="158236" y="2226259"/>
                </a:lnTo>
                <a:lnTo>
                  <a:pt x="158236" y="2373915"/>
                </a:lnTo>
                <a:lnTo>
                  <a:pt x="158236" y="2521570"/>
                </a:lnTo>
                <a:lnTo>
                  <a:pt x="158236" y="2772107"/>
                </a:lnTo>
                <a:lnTo>
                  <a:pt x="158236" y="3021692"/>
                </a:lnTo>
                <a:lnTo>
                  <a:pt x="158236" y="3271277"/>
                </a:lnTo>
                <a:lnTo>
                  <a:pt x="158236" y="3521815"/>
                </a:lnTo>
                <a:lnTo>
                  <a:pt x="158236" y="3600882"/>
                </a:lnTo>
                <a:lnTo>
                  <a:pt x="158236" y="3850467"/>
                </a:lnTo>
                <a:lnTo>
                  <a:pt x="158236" y="4168640"/>
                </a:lnTo>
                <a:lnTo>
                  <a:pt x="158236" y="4316295"/>
                </a:lnTo>
                <a:lnTo>
                  <a:pt x="158236" y="4396315"/>
                </a:lnTo>
                <a:lnTo>
                  <a:pt x="158236" y="4918347"/>
                </a:lnTo>
                <a:lnTo>
                  <a:pt x="158236" y="5441333"/>
                </a:lnTo>
                <a:lnTo>
                  <a:pt x="158236" y="5520400"/>
                </a:lnTo>
                <a:lnTo>
                  <a:pt x="158236" y="5600419"/>
                </a:lnTo>
                <a:lnTo>
                  <a:pt x="158236" y="5748074"/>
                </a:lnTo>
                <a:lnTo>
                  <a:pt x="158236" y="6474919"/>
                </a:lnTo>
                <a:lnTo>
                  <a:pt x="158236" y="7201764"/>
                </a:lnTo>
                <a:lnTo>
                  <a:pt x="158236" y="7349419"/>
                </a:lnTo>
                <a:lnTo>
                  <a:pt x="158236" y="7599957"/>
                </a:lnTo>
                <a:lnTo>
                  <a:pt x="158236" y="7849542"/>
                </a:lnTo>
                <a:lnTo>
                  <a:pt x="158236" y="7997197"/>
                </a:lnTo>
                <a:lnTo>
                  <a:pt x="158236" y="8144852"/>
                </a:lnTo>
                <a:lnTo>
                  <a:pt x="158236" y="8223919"/>
                </a:lnTo>
                <a:lnTo>
                  <a:pt x="158236" y="8610680"/>
                </a:lnTo>
                <a:lnTo>
                  <a:pt x="158236" y="8996489"/>
                </a:lnTo>
                <a:lnTo>
                  <a:pt x="158236" y="9076509"/>
                </a:lnTo>
                <a:lnTo>
                  <a:pt x="158236" y="9224164"/>
                </a:lnTo>
                <a:lnTo>
                  <a:pt x="158236" y="9371819"/>
                </a:lnTo>
                <a:lnTo>
                  <a:pt x="158236" y="9450886"/>
                </a:lnTo>
                <a:lnTo>
                  <a:pt x="0" y="9526143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38720553" y="1221581"/>
            <a:ext cx="1026605" cy="9676924"/>
          </a:xfrm>
          <a:custGeom>
            <a:avLst/>
            <a:gdLst/>
            <a:ahLst/>
            <a:cxnLst/>
            <a:rect l="l" t="t" r="r" b="b"/>
            <a:pathLst>
              <a:path w="1026605" h="9676924">
                <a:moveTo>
                  <a:pt x="1026605" y="0"/>
                </a:moveTo>
                <a:lnTo>
                  <a:pt x="925587" y="148057"/>
                </a:lnTo>
                <a:lnTo>
                  <a:pt x="925587" y="227407"/>
                </a:lnTo>
                <a:lnTo>
                  <a:pt x="925587" y="477072"/>
                </a:lnTo>
                <a:lnTo>
                  <a:pt x="925587" y="726737"/>
                </a:lnTo>
                <a:lnTo>
                  <a:pt x="925587" y="977369"/>
                </a:lnTo>
                <a:lnTo>
                  <a:pt x="925587" y="1227034"/>
                </a:lnTo>
                <a:lnTo>
                  <a:pt x="925587" y="1476698"/>
                </a:lnTo>
                <a:lnTo>
                  <a:pt x="925587" y="1726363"/>
                </a:lnTo>
                <a:lnTo>
                  <a:pt x="925587" y="1976995"/>
                </a:lnTo>
                <a:lnTo>
                  <a:pt x="925587" y="2226660"/>
                </a:lnTo>
                <a:lnTo>
                  <a:pt x="925587" y="2373749"/>
                </a:lnTo>
                <a:lnTo>
                  <a:pt x="925587" y="2521806"/>
                </a:lnTo>
                <a:lnTo>
                  <a:pt x="925587" y="2771471"/>
                </a:lnTo>
                <a:lnTo>
                  <a:pt x="925587" y="3022103"/>
                </a:lnTo>
                <a:lnTo>
                  <a:pt x="925587" y="3271768"/>
                </a:lnTo>
                <a:lnTo>
                  <a:pt x="925587" y="3521432"/>
                </a:lnTo>
                <a:lnTo>
                  <a:pt x="925587" y="3600783"/>
                </a:lnTo>
                <a:lnTo>
                  <a:pt x="925587" y="3850448"/>
                </a:lnTo>
                <a:lnTo>
                  <a:pt x="925587" y="4168819"/>
                </a:lnTo>
                <a:lnTo>
                  <a:pt x="925587" y="4316875"/>
                </a:lnTo>
                <a:lnTo>
                  <a:pt x="925587" y="4396226"/>
                </a:lnTo>
                <a:lnTo>
                  <a:pt x="925587" y="4918780"/>
                </a:lnTo>
                <a:lnTo>
                  <a:pt x="925587" y="5441334"/>
                </a:lnTo>
                <a:lnTo>
                  <a:pt x="925587" y="5520685"/>
                </a:lnTo>
                <a:lnTo>
                  <a:pt x="925587" y="5600036"/>
                </a:lnTo>
                <a:lnTo>
                  <a:pt x="925587" y="5748092"/>
                </a:lnTo>
                <a:lnTo>
                  <a:pt x="925587" y="6474829"/>
                </a:lnTo>
                <a:lnTo>
                  <a:pt x="925587" y="7201566"/>
                </a:lnTo>
                <a:lnTo>
                  <a:pt x="925587" y="7349623"/>
                </a:lnTo>
                <a:lnTo>
                  <a:pt x="925587" y="7599288"/>
                </a:lnTo>
                <a:lnTo>
                  <a:pt x="925587" y="7849920"/>
                </a:lnTo>
                <a:lnTo>
                  <a:pt x="925587" y="7997010"/>
                </a:lnTo>
                <a:lnTo>
                  <a:pt x="925587" y="8145066"/>
                </a:lnTo>
                <a:lnTo>
                  <a:pt x="925587" y="8224417"/>
                </a:lnTo>
                <a:lnTo>
                  <a:pt x="925587" y="8610527"/>
                </a:lnTo>
                <a:lnTo>
                  <a:pt x="925587" y="8996636"/>
                </a:lnTo>
                <a:lnTo>
                  <a:pt x="925587" y="9075987"/>
                </a:lnTo>
                <a:lnTo>
                  <a:pt x="925587" y="9224043"/>
                </a:lnTo>
                <a:lnTo>
                  <a:pt x="925587" y="9372100"/>
                </a:lnTo>
                <a:lnTo>
                  <a:pt x="925587" y="9451451"/>
                </a:lnTo>
                <a:lnTo>
                  <a:pt x="0" y="9676924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38721125" y="1289780"/>
            <a:ext cx="8908256" cy="9742646"/>
          </a:xfrm>
          <a:custGeom>
            <a:avLst/>
            <a:gdLst/>
            <a:ahLst/>
            <a:cxnLst/>
            <a:rect l="l" t="t" r="r" b="b"/>
            <a:pathLst>
              <a:path w="8908256" h="9742646">
                <a:moveTo>
                  <a:pt x="1894786" y="0"/>
                </a:moveTo>
                <a:lnTo>
                  <a:pt x="1894786" y="79889"/>
                </a:lnTo>
                <a:lnTo>
                  <a:pt x="8908256" y="158805"/>
                </a:lnTo>
                <a:lnTo>
                  <a:pt x="8908256" y="409191"/>
                </a:lnTo>
                <a:lnTo>
                  <a:pt x="8908256" y="658603"/>
                </a:lnTo>
                <a:lnTo>
                  <a:pt x="8908256" y="908989"/>
                </a:lnTo>
                <a:lnTo>
                  <a:pt x="8908256" y="1158400"/>
                </a:lnTo>
                <a:lnTo>
                  <a:pt x="8908256" y="1408786"/>
                </a:lnTo>
                <a:lnTo>
                  <a:pt x="8908256" y="1658198"/>
                </a:lnTo>
                <a:lnTo>
                  <a:pt x="8908256" y="1908584"/>
                </a:lnTo>
                <a:lnTo>
                  <a:pt x="8908256" y="2157996"/>
                </a:lnTo>
                <a:lnTo>
                  <a:pt x="8908256" y="2306084"/>
                </a:lnTo>
                <a:lnTo>
                  <a:pt x="8908256" y="2453198"/>
                </a:lnTo>
                <a:lnTo>
                  <a:pt x="8908256" y="2703584"/>
                </a:lnTo>
                <a:lnTo>
                  <a:pt x="8908256" y="2953970"/>
                </a:lnTo>
                <a:lnTo>
                  <a:pt x="8908256" y="3203382"/>
                </a:lnTo>
                <a:lnTo>
                  <a:pt x="8908256" y="3453768"/>
                </a:lnTo>
                <a:lnTo>
                  <a:pt x="8908256" y="3532683"/>
                </a:lnTo>
                <a:lnTo>
                  <a:pt x="8908256" y="3783069"/>
                </a:lnTo>
                <a:lnTo>
                  <a:pt x="8908256" y="4100680"/>
                </a:lnTo>
                <a:lnTo>
                  <a:pt x="8908256" y="4248768"/>
                </a:lnTo>
                <a:lnTo>
                  <a:pt x="8908256" y="4327683"/>
                </a:lnTo>
                <a:lnTo>
                  <a:pt x="8908256" y="4850863"/>
                </a:lnTo>
                <a:lnTo>
                  <a:pt x="8908256" y="5373069"/>
                </a:lnTo>
                <a:lnTo>
                  <a:pt x="8908256" y="5452959"/>
                </a:lnTo>
                <a:lnTo>
                  <a:pt x="8908256" y="5531874"/>
                </a:lnTo>
                <a:lnTo>
                  <a:pt x="8908256" y="5679963"/>
                </a:lnTo>
                <a:lnTo>
                  <a:pt x="8908256" y="6406764"/>
                </a:lnTo>
                <a:lnTo>
                  <a:pt x="8908256" y="7133565"/>
                </a:lnTo>
                <a:lnTo>
                  <a:pt x="8908256" y="7281654"/>
                </a:lnTo>
                <a:lnTo>
                  <a:pt x="8908256" y="7531065"/>
                </a:lnTo>
                <a:lnTo>
                  <a:pt x="8908256" y="7781451"/>
                </a:lnTo>
                <a:lnTo>
                  <a:pt x="8908256" y="7928565"/>
                </a:lnTo>
                <a:lnTo>
                  <a:pt x="8908256" y="8076653"/>
                </a:lnTo>
                <a:lnTo>
                  <a:pt x="8908256" y="8156543"/>
                </a:lnTo>
                <a:lnTo>
                  <a:pt x="8908256" y="8542352"/>
                </a:lnTo>
                <a:lnTo>
                  <a:pt x="8908256" y="8928161"/>
                </a:lnTo>
                <a:lnTo>
                  <a:pt x="8908256" y="9008050"/>
                </a:lnTo>
                <a:lnTo>
                  <a:pt x="8908256" y="9156139"/>
                </a:lnTo>
                <a:lnTo>
                  <a:pt x="8908256" y="9303253"/>
                </a:lnTo>
                <a:lnTo>
                  <a:pt x="8908256" y="9383142"/>
                </a:lnTo>
                <a:lnTo>
                  <a:pt x="0" y="9742646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38721125" y="1289780"/>
            <a:ext cx="9021794" cy="9742932"/>
          </a:xfrm>
          <a:custGeom>
            <a:avLst/>
            <a:gdLst/>
            <a:ahLst/>
            <a:cxnLst/>
            <a:rect l="l" t="t" r="r" b="b"/>
            <a:pathLst>
              <a:path w="9021794" h="9742932">
                <a:moveTo>
                  <a:pt x="2759767" y="0"/>
                </a:moveTo>
                <a:lnTo>
                  <a:pt x="2759767" y="79892"/>
                </a:lnTo>
                <a:lnTo>
                  <a:pt x="9021794" y="158810"/>
                </a:lnTo>
                <a:lnTo>
                  <a:pt x="9021794" y="409203"/>
                </a:lnTo>
                <a:lnTo>
                  <a:pt x="9021794" y="658622"/>
                </a:lnTo>
                <a:lnTo>
                  <a:pt x="9021794" y="909015"/>
                </a:lnTo>
                <a:lnTo>
                  <a:pt x="9021794" y="1158434"/>
                </a:lnTo>
                <a:lnTo>
                  <a:pt x="9021794" y="1408828"/>
                </a:lnTo>
                <a:lnTo>
                  <a:pt x="9021794" y="1658247"/>
                </a:lnTo>
                <a:lnTo>
                  <a:pt x="9021794" y="1908640"/>
                </a:lnTo>
                <a:lnTo>
                  <a:pt x="9021794" y="2158059"/>
                </a:lnTo>
                <a:lnTo>
                  <a:pt x="9021794" y="2306152"/>
                </a:lnTo>
                <a:lnTo>
                  <a:pt x="9021794" y="2453270"/>
                </a:lnTo>
                <a:lnTo>
                  <a:pt x="9021794" y="2703663"/>
                </a:lnTo>
                <a:lnTo>
                  <a:pt x="9021794" y="2953082"/>
                </a:lnTo>
                <a:lnTo>
                  <a:pt x="9021794" y="3203476"/>
                </a:lnTo>
                <a:lnTo>
                  <a:pt x="9021794" y="3452895"/>
                </a:lnTo>
                <a:lnTo>
                  <a:pt x="9021794" y="3532787"/>
                </a:lnTo>
                <a:lnTo>
                  <a:pt x="9021794" y="3783180"/>
                </a:lnTo>
                <a:lnTo>
                  <a:pt x="9021794" y="4100800"/>
                </a:lnTo>
                <a:lnTo>
                  <a:pt x="9021794" y="4248892"/>
                </a:lnTo>
                <a:lnTo>
                  <a:pt x="9021794" y="4327810"/>
                </a:lnTo>
                <a:lnTo>
                  <a:pt x="9021794" y="4851006"/>
                </a:lnTo>
                <a:lnTo>
                  <a:pt x="9021794" y="5373227"/>
                </a:lnTo>
                <a:lnTo>
                  <a:pt x="9021794" y="5452144"/>
                </a:lnTo>
                <a:lnTo>
                  <a:pt x="9021794" y="5532037"/>
                </a:lnTo>
                <a:lnTo>
                  <a:pt x="9021794" y="5680129"/>
                </a:lnTo>
                <a:lnTo>
                  <a:pt x="9021794" y="6406952"/>
                </a:lnTo>
                <a:lnTo>
                  <a:pt x="9021794" y="7133775"/>
                </a:lnTo>
                <a:lnTo>
                  <a:pt x="9021794" y="7281867"/>
                </a:lnTo>
                <a:lnTo>
                  <a:pt x="9021794" y="7531286"/>
                </a:lnTo>
                <a:lnTo>
                  <a:pt x="9021794" y="7781680"/>
                </a:lnTo>
                <a:lnTo>
                  <a:pt x="9021794" y="7928798"/>
                </a:lnTo>
                <a:lnTo>
                  <a:pt x="9021794" y="8076890"/>
                </a:lnTo>
                <a:lnTo>
                  <a:pt x="9021794" y="8155808"/>
                </a:lnTo>
                <a:lnTo>
                  <a:pt x="9021794" y="8542603"/>
                </a:lnTo>
                <a:lnTo>
                  <a:pt x="9021794" y="8928423"/>
                </a:lnTo>
                <a:lnTo>
                  <a:pt x="9021794" y="9008315"/>
                </a:lnTo>
                <a:lnTo>
                  <a:pt x="9021794" y="9155433"/>
                </a:lnTo>
                <a:lnTo>
                  <a:pt x="9021794" y="9303526"/>
                </a:lnTo>
                <a:lnTo>
                  <a:pt x="9021794" y="9383418"/>
                </a:lnTo>
                <a:lnTo>
                  <a:pt x="0" y="9742932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32924686" y="5242941"/>
            <a:ext cx="162496" cy="5498496"/>
          </a:xfrm>
          <a:custGeom>
            <a:avLst/>
            <a:gdLst/>
            <a:ahLst/>
            <a:cxnLst/>
            <a:rect l="l" t="t" r="r" b="b"/>
            <a:pathLst>
              <a:path w="162496" h="5498496">
                <a:moveTo>
                  <a:pt x="0" y="0"/>
                </a:moveTo>
                <a:lnTo>
                  <a:pt x="162496" y="147909"/>
                </a:lnTo>
                <a:lnTo>
                  <a:pt x="162496" y="295269"/>
                </a:lnTo>
                <a:lnTo>
                  <a:pt x="162496" y="374997"/>
                </a:lnTo>
                <a:lnTo>
                  <a:pt x="162496" y="897354"/>
                </a:lnTo>
                <a:lnTo>
                  <a:pt x="162496" y="1419711"/>
                </a:lnTo>
                <a:lnTo>
                  <a:pt x="162496" y="1499440"/>
                </a:lnTo>
                <a:lnTo>
                  <a:pt x="162496" y="1579168"/>
                </a:lnTo>
                <a:lnTo>
                  <a:pt x="162496" y="1726527"/>
                </a:lnTo>
                <a:lnTo>
                  <a:pt x="162496" y="2453429"/>
                </a:lnTo>
                <a:lnTo>
                  <a:pt x="162496" y="3180880"/>
                </a:lnTo>
                <a:lnTo>
                  <a:pt x="162496" y="3328240"/>
                </a:lnTo>
                <a:lnTo>
                  <a:pt x="162496" y="3578421"/>
                </a:lnTo>
                <a:lnTo>
                  <a:pt x="162496" y="3828053"/>
                </a:lnTo>
                <a:lnTo>
                  <a:pt x="162496" y="3975962"/>
                </a:lnTo>
                <a:lnTo>
                  <a:pt x="162496" y="4123322"/>
                </a:lnTo>
                <a:lnTo>
                  <a:pt x="162496" y="4203050"/>
                </a:lnTo>
                <a:lnTo>
                  <a:pt x="162496" y="4589045"/>
                </a:lnTo>
                <a:lnTo>
                  <a:pt x="162496" y="4975589"/>
                </a:lnTo>
                <a:lnTo>
                  <a:pt x="162496" y="5054768"/>
                </a:lnTo>
                <a:lnTo>
                  <a:pt x="162496" y="5202677"/>
                </a:lnTo>
                <a:lnTo>
                  <a:pt x="162496" y="5350587"/>
                </a:lnTo>
                <a:lnTo>
                  <a:pt x="162496" y="5429765"/>
                </a:lnTo>
                <a:lnTo>
                  <a:pt x="37212" y="5498496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33039748" y="5242941"/>
            <a:ext cx="661607" cy="5621750"/>
          </a:xfrm>
          <a:custGeom>
            <a:avLst/>
            <a:gdLst/>
            <a:ahLst/>
            <a:cxnLst/>
            <a:rect l="l" t="t" r="r" b="b"/>
            <a:pathLst>
              <a:path w="661607" h="5621750">
                <a:moveTo>
                  <a:pt x="661607" y="0"/>
                </a:moveTo>
                <a:lnTo>
                  <a:pt x="649830" y="147852"/>
                </a:lnTo>
                <a:lnTo>
                  <a:pt x="649830" y="295141"/>
                </a:lnTo>
                <a:lnTo>
                  <a:pt x="649830" y="374970"/>
                </a:lnTo>
                <a:lnTo>
                  <a:pt x="649830" y="897231"/>
                </a:lnTo>
                <a:lnTo>
                  <a:pt x="649830" y="1420054"/>
                </a:lnTo>
                <a:lnTo>
                  <a:pt x="649830" y="1499320"/>
                </a:lnTo>
                <a:lnTo>
                  <a:pt x="649830" y="1579149"/>
                </a:lnTo>
                <a:lnTo>
                  <a:pt x="649830" y="1726439"/>
                </a:lnTo>
                <a:lnTo>
                  <a:pt x="649830" y="2453893"/>
                </a:lnTo>
                <a:lnTo>
                  <a:pt x="649830" y="3180786"/>
                </a:lnTo>
                <a:lnTo>
                  <a:pt x="649830" y="3328076"/>
                </a:lnTo>
                <a:lnTo>
                  <a:pt x="649830" y="3578244"/>
                </a:lnTo>
                <a:lnTo>
                  <a:pt x="649830" y="3828411"/>
                </a:lnTo>
                <a:lnTo>
                  <a:pt x="649830" y="3975701"/>
                </a:lnTo>
                <a:lnTo>
                  <a:pt x="649830" y="4123553"/>
                </a:lnTo>
                <a:lnTo>
                  <a:pt x="649830" y="4202820"/>
                </a:lnTo>
                <a:lnTo>
                  <a:pt x="649830" y="4589034"/>
                </a:lnTo>
                <a:lnTo>
                  <a:pt x="649830" y="4975248"/>
                </a:lnTo>
                <a:lnTo>
                  <a:pt x="649830" y="5055077"/>
                </a:lnTo>
                <a:lnTo>
                  <a:pt x="649830" y="5202367"/>
                </a:lnTo>
                <a:lnTo>
                  <a:pt x="649830" y="5350219"/>
                </a:lnTo>
                <a:lnTo>
                  <a:pt x="649830" y="5430048"/>
                </a:lnTo>
                <a:lnTo>
                  <a:pt x="0" y="5621750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30301025" y="6310693"/>
            <a:ext cx="1422368" cy="4626102"/>
          </a:xfrm>
          <a:custGeom>
            <a:avLst/>
            <a:gdLst/>
            <a:ahLst/>
            <a:cxnLst/>
            <a:rect l="l" t="t" r="r" b="b"/>
            <a:pathLst>
              <a:path w="1422368" h="4626102">
                <a:moveTo>
                  <a:pt x="0" y="0"/>
                </a:moveTo>
                <a:lnTo>
                  <a:pt x="0" y="352046"/>
                </a:lnTo>
                <a:lnTo>
                  <a:pt x="0" y="431615"/>
                </a:lnTo>
                <a:lnTo>
                  <a:pt x="0" y="511184"/>
                </a:lnTo>
                <a:lnTo>
                  <a:pt x="0" y="658757"/>
                </a:lnTo>
                <a:lnTo>
                  <a:pt x="0" y="1385980"/>
                </a:lnTo>
                <a:lnTo>
                  <a:pt x="0" y="2112741"/>
                </a:lnTo>
                <a:lnTo>
                  <a:pt x="0" y="2260776"/>
                </a:lnTo>
                <a:lnTo>
                  <a:pt x="0" y="2510586"/>
                </a:lnTo>
                <a:lnTo>
                  <a:pt x="0" y="2760395"/>
                </a:lnTo>
                <a:lnTo>
                  <a:pt x="0" y="2907968"/>
                </a:lnTo>
                <a:lnTo>
                  <a:pt x="0" y="3055540"/>
                </a:lnTo>
                <a:lnTo>
                  <a:pt x="0" y="3135109"/>
                </a:lnTo>
                <a:lnTo>
                  <a:pt x="0" y="3521389"/>
                </a:lnTo>
                <a:lnTo>
                  <a:pt x="0" y="3907668"/>
                </a:lnTo>
                <a:lnTo>
                  <a:pt x="0" y="3987237"/>
                </a:lnTo>
                <a:lnTo>
                  <a:pt x="0" y="4134810"/>
                </a:lnTo>
                <a:lnTo>
                  <a:pt x="0" y="4282383"/>
                </a:lnTo>
                <a:lnTo>
                  <a:pt x="0" y="4361952"/>
                </a:lnTo>
                <a:lnTo>
                  <a:pt x="1422368" y="4626102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Freeform 104"/>
          <p:cNvSpPr/>
          <p:nvPr/>
        </p:nvSpPr>
        <p:spPr>
          <a:xfrm>
            <a:off x="31391542" y="6310693"/>
            <a:ext cx="333089" cy="4491990"/>
          </a:xfrm>
          <a:custGeom>
            <a:avLst/>
            <a:gdLst/>
            <a:ahLst/>
            <a:cxnLst/>
            <a:rect l="l" t="t" r="r" b="b"/>
            <a:pathLst>
              <a:path w="333089" h="4491990">
                <a:moveTo>
                  <a:pt x="0" y="0"/>
                </a:moveTo>
                <a:lnTo>
                  <a:pt x="0" y="352172"/>
                </a:lnTo>
                <a:lnTo>
                  <a:pt x="0" y="431680"/>
                </a:lnTo>
                <a:lnTo>
                  <a:pt x="0" y="511188"/>
                </a:lnTo>
                <a:lnTo>
                  <a:pt x="0" y="658975"/>
                </a:lnTo>
                <a:lnTo>
                  <a:pt x="0" y="1385779"/>
                </a:lnTo>
                <a:lnTo>
                  <a:pt x="0" y="2113032"/>
                </a:lnTo>
                <a:lnTo>
                  <a:pt x="0" y="2260369"/>
                </a:lnTo>
                <a:lnTo>
                  <a:pt x="0" y="2510573"/>
                </a:lnTo>
                <a:lnTo>
                  <a:pt x="0" y="2760328"/>
                </a:lnTo>
                <a:lnTo>
                  <a:pt x="0" y="2908114"/>
                </a:lnTo>
                <a:lnTo>
                  <a:pt x="0" y="3055901"/>
                </a:lnTo>
                <a:lnTo>
                  <a:pt x="0" y="3135409"/>
                </a:lnTo>
                <a:lnTo>
                  <a:pt x="0" y="3521271"/>
                </a:lnTo>
                <a:lnTo>
                  <a:pt x="0" y="3907582"/>
                </a:lnTo>
                <a:lnTo>
                  <a:pt x="0" y="3987090"/>
                </a:lnTo>
                <a:lnTo>
                  <a:pt x="0" y="4134877"/>
                </a:lnTo>
                <a:lnTo>
                  <a:pt x="0" y="4282663"/>
                </a:lnTo>
                <a:lnTo>
                  <a:pt x="0" y="4362171"/>
                </a:lnTo>
                <a:lnTo>
                  <a:pt x="333089" y="4491990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32472058" y="6310693"/>
            <a:ext cx="15811" cy="4419695"/>
          </a:xfrm>
          <a:custGeom>
            <a:avLst/>
            <a:gdLst/>
            <a:ahLst/>
            <a:cxnLst/>
            <a:rect l="l" t="t" r="r" b="b"/>
            <a:pathLst>
              <a:path w="15811" h="4419695">
                <a:moveTo>
                  <a:pt x="15811" y="0"/>
                </a:moveTo>
                <a:lnTo>
                  <a:pt x="15811" y="352250"/>
                </a:lnTo>
                <a:lnTo>
                  <a:pt x="15811" y="431804"/>
                </a:lnTo>
                <a:lnTo>
                  <a:pt x="15811" y="511359"/>
                </a:lnTo>
                <a:lnTo>
                  <a:pt x="15811" y="658977"/>
                </a:lnTo>
                <a:lnTo>
                  <a:pt x="15811" y="1386016"/>
                </a:lnTo>
                <a:lnTo>
                  <a:pt x="15811" y="2113056"/>
                </a:lnTo>
                <a:lnTo>
                  <a:pt x="15811" y="2260674"/>
                </a:lnTo>
                <a:lnTo>
                  <a:pt x="15811" y="2510387"/>
                </a:lnTo>
                <a:lnTo>
                  <a:pt x="15811" y="2760542"/>
                </a:lnTo>
                <a:lnTo>
                  <a:pt x="15811" y="2908159"/>
                </a:lnTo>
                <a:lnTo>
                  <a:pt x="15811" y="3055777"/>
                </a:lnTo>
                <a:lnTo>
                  <a:pt x="15811" y="3135332"/>
                </a:lnTo>
                <a:lnTo>
                  <a:pt x="15811" y="3521613"/>
                </a:lnTo>
                <a:lnTo>
                  <a:pt x="15811" y="3907895"/>
                </a:lnTo>
                <a:lnTo>
                  <a:pt x="15811" y="3987007"/>
                </a:lnTo>
                <a:lnTo>
                  <a:pt x="15811" y="4135067"/>
                </a:lnTo>
                <a:lnTo>
                  <a:pt x="15811" y="4282685"/>
                </a:lnTo>
                <a:lnTo>
                  <a:pt x="15811" y="4362239"/>
                </a:lnTo>
                <a:lnTo>
                  <a:pt x="0" y="4419695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Freeform 106"/>
          <p:cNvSpPr/>
          <p:nvPr/>
        </p:nvSpPr>
        <p:spPr>
          <a:xfrm>
            <a:off x="33040224" y="6310693"/>
            <a:ext cx="1197198" cy="4611243"/>
          </a:xfrm>
          <a:custGeom>
            <a:avLst/>
            <a:gdLst/>
            <a:ahLst/>
            <a:cxnLst/>
            <a:rect l="l" t="t" r="r" b="b"/>
            <a:pathLst>
              <a:path w="1197198" h="4611243">
                <a:moveTo>
                  <a:pt x="1197198" y="0"/>
                </a:moveTo>
                <a:lnTo>
                  <a:pt x="1197198" y="352299"/>
                </a:lnTo>
                <a:lnTo>
                  <a:pt x="1197198" y="431612"/>
                </a:lnTo>
                <a:lnTo>
                  <a:pt x="1197198" y="511387"/>
                </a:lnTo>
                <a:lnTo>
                  <a:pt x="1197198" y="658947"/>
                </a:lnTo>
                <a:lnTo>
                  <a:pt x="1197198" y="1385679"/>
                </a:lnTo>
                <a:lnTo>
                  <a:pt x="1197198" y="2112872"/>
                </a:lnTo>
                <a:lnTo>
                  <a:pt x="1197198" y="2260431"/>
                </a:lnTo>
                <a:lnTo>
                  <a:pt x="1197198" y="2510361"/>
                </a:lnTo>
                <a:lnTo>
                  <a:pt x="1197198" y="2760290"/>
                </a:lnTo>
                <a:lnTo>
                  <a:pt x="1197198" y="2907850"/>
                </a:lnTo>
                <a:lnTo>
                  <a:pt x="1197198" y="3055871"/>
                </a:lnTo>
                <a:lnTo>
                  <a:pt x="1197198" y="3135184"/>
                </a:lnTo>
                <a:lnTo>
                  <a:pt x="1197198" y="3521606"/>
                </a:lnTo>
                <a:lnTo>
                  <a:pt x="1197198" y="3907567"/>
                </a:lnTo>
                <a:lnTo>
                  <a:pt x="1197198" y="3987342"/>
                </a:lnTo>
                <a:lnTo>
                  <a:pt x="1197198" y="4134902"/>
                </a:lnTo>
                <a:lnTo>
                  <a:pt x="1197198" y="4282461"/>
                </a:lnTo>
                <a:lnTo>
                  <a:pt x="1197198" y="4362236"/>
                </a:lnTo>
                <a:lnTo>
                  <a:pt x="0" y="4611243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reeform 107"/>
          <p:cNvSpPr/>
          <p:nvPr/>
        </p:nvSpPr>
        <p:spPr>
          <a:xfrm>
            <a:off x="2528887" y="14410086"/>
            <a:ext cx="5595747" cy="556641"/>
          </a:xfrm>
          <a:custGeom>
            <a:avLst/>
            <a:gdLst/>
            <a:ahLst/>
            <a:cxnLst/>
            <a:rect l="l" t="t" r="r" b="b"/>
            <a:pathLst>
              <a:path w="5595747" h="556641">
                <a:moveTo>
                  <a:pt x="5319317" y="0"/>
                </a:moveTo>
                <a:lnTo>
                  <a:pt x="5595747" y="283998"/>
                </a:lnTo>
                <a:lnTo>
                  <a:pt x="0" y="431675"/>
                </a:lnTo>
                <a:lnTo>
                  <a:pt x="0" y="556641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2988373" y="12535757"/>
            <a:ext cx="1879568" cy="2561558"/>
          </a:xfrm>
          <a:custGeom>
            <a:avLst/>
            <a:gdLst/>
            <a:ahLst/>
            <a:cxnLst/>
            <a:rect l="l" t="t" r="r" b="b"/>
            <a:pathLst>
              <a:path w="1879568" h="2561558">
                <a:moveTo>
                  <a:pt x="0" y="2561558"/>
                </a:moveTo>
                <a:lnTo>
                  <a:pt x="1879568" y="2305914"/>
                </a:lnTo>
                <a:lnTo>
                  <a:pt x="1879568" y="2158369"/>
                </a:lnTo>
                <a:lnTo>
                  <a:pt x="1879568" y="1499536"/>
                </a:lnTo>
                <a:lnTo>
                  <a:pt x="1879568" y="840703"/>
                </a:lnTo>
                <a:lnTo>
                  <a:pt x="1879568" y="624764"/>
                </a:lnTo>
                <a:lnTo>
                  <a:pt x="1879568" y="408824"/>
                </a:lnTo>
                <a:lnTo>
                  <a:pt x="1879568" y="329416"/>
                </a:lnTo>
                <a:lnTo>
                  <a:pt x="1879568" y="0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566951" y="13169430"/>
            <a:ext cx="601980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1">
                <a:solidFill>
                  <a:srgbClr val="333333"/>
                </a:solidFill>
              </a:rPr>
              <a:t>SMS / push</a:t>
            </a:r>
          </a:p>
        </p:txBody>
      </p:sp>
      <p:sp>
        <p:nvSpPr>
          <p:cNvPr id="111" name="Freeform 110"/>
          <p:cNvSpPr/>
          <p:nvPr/>
        </p:nvSpPr>
        <p:spPr>
          <a:xfrm>
            <a:off x="1771650" y="10138886"/>
            <a:ext cx="2573178" cy="2111788"/>
          </a:xfrm>
          <a:custGeom>
            <a:avLst/>
            <a:gdLst/>
            <a:ahLst/>
            <a:cxnLst/>
            <a:rect l="l" t="t" r="r" b="b"/>
            <a:pathLst>
              <a:path w="2573178" h="2111788">
                <a:moveTo>
                  <a:pt x="0" y="0"/>
                </a:moveTo>
                <a:lnTo>
                  <a:pt x="126085" y="79614"/>
                </a:lnTo>
                <a:lnTo>
                  <a:pt x="126085" y="159017"/>
                </a:lnTo>
                <a:lnTo>
                  <a:pt x="126085" y="306631"/>
                </a:lnTo>
                <a:lnTo>
                  <a:pt x="126085" y="454456"/>
                </a:lnTo>
                <a:lnTo>
                  <a:pt x="126085" y="533860"/>
                </a:lnTo>
                <a:lnTo>
                  <a:pt x="126085" y="920106"/>
                </a:lnTo>
                <a:lnTo>
                  <a:pt x="126085" y="1306352"/>
                </a:lnTo>
                <a:lnTo>
                  <a:pt x="126085" y="1385966"/>
                </a:lnTo>
                <a:lnTo>
                  <a:pt x="126085" y="1533580"/>
                </a:lnTo>
                <a:lnTo>
                  <a:pt x="126085" y="1681194"/>
                </a:lnTo>
                <a:lnTo>
                  <a:pt x="2573178" y="2111788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555597" y="10766809"/>
            <a:ext cx="684276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1">
                <a:solidFill>
                  <a:srgbClr val="333333"/>
                </a:solidFill>
              </a:rPr>
              <a:t>WAN backhaul</a:t>
            </a:r>
          </a:p>
        </p:txBody>
      </p:sp>
      <p:sp>
        <p:nvSpPr>
          <p:cNvPr id="113" name="Freeform 112"/>
          <p:cNvSpPr/>
          <p:nvPr/>
        </p:nvSpPr>
        <p:spPr>
          <a:xfrm>
            <a:off x="1377505" y="10138886"/>
            <a:ext cx="3953542" cy="4987195"/>
          </a:xfrm>
          <a:custGeom>
            <a:avLst/>
            <a:gdLst/>
            <a:ahLst/>
            <a:cxnLst/>
            <a:rect l="l" t="t" r="r" b="b"/>
            <a:pathLst>
              <a:path w="3953542" h="4987195">
                <a:moveTo>
                  <a:pt x="0" y="0"/>
                </a:moveTo>
                <a:lnTo>
                  <a:pt x="24117" y="79296"/>
                </a:lnTo>
                <a:lnTo>
                  <a:pt x="24117" y="159091"/>
                </a:lnTo>
                <a:lnTo>
                  <a:pt x="24117" y="306712"/>
                </a:lnTo>
                <a:lnTo>
                  <a:pt x="24117" y="454333"/>
                </a:lnTo>
                <a:lnTo>
                  <a:pt x="24117" y="534128"/>
                </a:lnTo>
                <a:lnTo>
                  <a:pt x="24117" y="920137"/>
                </a:lnTo>
                <a:lnTo>
                  <a:pt x="24117" y="1306146"/>
                </a:lnTo>
                <a:lnTo>
                  <a:pt x="24117" y="1385941"/>
                </a:lnTo>
                <a:lnTo>
                  <a:pt x="24117" y="1533562"/>
                </a:lnTo>
                <a:lnTo>
                  <a:pt x="24117" y="1681183"/>
                </a:lnTo>
                <a:lnTo>
                  <a:pt x="24117" y="2203841"/>
                </a:lnTo>
                <a:lnTo>
                  <a:pt x="24117" y="2726499"/>
                </a:lnTo>
                <a:lnTo>
                  <a:pt x="24117" y="2805796"/>
                </a:lnTo>
                <a:lnTo>
                  <a:pt x="24117" y="3021741"/>
                </a:lnTo>
                <a:lnTo>
                  <a:pt x="24117" y="3237687"/>
                </a:lnTo>
                <a:lnTo>
                  <a:pt x="24117" y="3896495"/>
                </a:lnTo>
                <a:lnTo>
                  <a:pt x="24117" y="4555303"/>
                </a:lnTo>
                <a:lnTo>
                  <a:pt x="24117" y="4702924"/>
                </a:lnTo>
                <a:lnTo>
                  <a:pt x="3953542" y="4987195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059484" y="11647199"/>
            <a:ext cx="684276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1">
                <a:solidFill>
                  <a:srgbClr val="333333"/>
                </a:solidFill>
              </a:rPr>
              <a:t>audit egress</a:t>
            </a:r>
          </a:p>
        </p:txBody>
      </p:sp>
      <p:sp>
        <p:nvSpPr>
          <p:cNvPr id="115" name="Freeform 114"/>
          <p:cNvSpPr/>
          <p:nvPr/>
        </p:nvSpPr>
        <p:spPr>
          <a:xfrm>
            <a:off x="7863840" y="12524898"/>
            <a:ext cx="30612873" cy="1119188"/>
          </a:xfrm>
          <a:custGeom>
            <a:avLst/>
            <a:gdLst/>
            <a:ahLst/>
            <a:cxnLst/>
            <a:rect l="l" t="t" r="r" b="b"/>
            <a:pathLst>
              <a:path w="30612873" h="1119188">
                <a:moveTo>
                  <a:pt x="30612873" y="0"/>
                </a:moveTo>
                <a:lnTo>
                  <a:pt x="30612873" y="340233"/>
                </a:lnTo>
                <a:lnTo>
                  <a:pt x="30612873" y="419807"/>
                </a:lnTo>
                <a:lnTo>
                  <a:pt x="260209" y="635587"/>
                </a:lnTo>
                <a:lnTo>
                  <a:pt x="260209" y="851478"/>
                </a:lnTo>
                <a:lnTo>
                  <a:pt x="0" y="1119188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7797546" y="12444888"/>
            <a:ext cx="29819060" cy="1197769"/>
          </a:xfrm>
          <a:custGeom>
            <a:avLst/>
            <a:gdLst/>
            <a:ahLst/>
            <a:cxnLst/>
            <a:rect l="l" t="t" r="r" b="b"/>
            <a:pathLst>
              <a:path w="29819060" h="1197769">
                <a:moveTo>
                  <a:pt x="29819060" y="0"/>
                </a:moveTo>
                <a:lnTo>
                  <a:pt x="29819060" y="420297"/>
                </a:lnTo>
                <a:lnTo>
                  <a:pt x="29819060" y="499829"/>
                </a:lnTo>
                <a:lnTo>
                  <a:pt x="214697" y="715667"/>
                </a:lnTo>
                <a:lnTo>
                  <a:pt x="214697" y="931505"/>
                </a:lnTo>
                <a:lnTo>
                  <a:pt x="0" y="1197769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7482840" y="11210829"/>
            <a:ext cx="10156888" cy="2426780"/>
          </a:xfrm>
          <a:custGeom>
            <a:avLst/>
            <a:gdLst/>
            <a:ahLst/>
            <a:cxnLst/>
            <a:rect l="l" t="t" r="r" b="b"/>
            <a:pathLst>
              <a:path w="10156888" h="2426780">
                <a:moveTo>
                  <a:pt x="10156888" y="0"/>
                </a:moveTo>
                <a:lnTo>
                  <a:pt x="9602322" y="234427"/>
                </a:lnTo>
                <a:lnTo>
                  <a:pt x="9602322" y="313783"/>
                </a:lnTo>
                <a:lnTo>
                  <a:pt x="9602322" y="461574"/>
                </a:lnTo>
                <a:lnTo>
                  <a:pt x="9602322" y="609365"/>
                </a:lnTo>
                <a:lnTo>
                  <a:pt x="9602322" y="1131850"/>
                </a:lnTo>
                <a:lnTo>
                  <a:pt x="9602322" y="1654336"/>
                </a:lnTo>
                <a:lnTo>
                  <a:pt x="9602322" y="1733934"/>
                </a:lnTo>
                <a:lnTo>
                  <a:pt x="0" y="1949675"/>
                </a:lnTo>
                <a:lnTo>
                  <a:pt x="0" y="2165416"/>
                </a:lnTo>
                <a:lnTo>
                  <a:pt x="0" y="2426780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6640154" y="12504862"/>
            <a:ext cx="890016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1">
                <a:solidFill>
                  <a:srgbClr val="333333"/>
                </a:solidFill>
              </a:rPr>
              <a:t>mode events · SSE</a:t>
            </a:r>
          </a:p>
        </p:txBody>
      </p:sp>
      <p:sp>
        <p:nvSpPr>
          <p:cNvPr id="119" name="Freeform 118"/>
          <p:cNvSpPr/>
          <p:nvPr/>
        </p:nvSpPr>
        <p:spPr>
          <a:xfrm>
            <a:off x="5993987" y="11229403"/>
            <a:ext cx="5208651" cy="852011"/>
          </a:xfrm>
          <a:custGeom>
            <a:avLst/>
            <a:gdLst/>
            <a:ahLst/>
            <a:cxnLst/>
            <a:rect l="l" t="t" r="r" b="b"/>
            <a:pathLst>
              <a:path w="5208651" h="852011">
                <a:moveTo>
                  <a:pt x="5208651" y="0"/>
                </a:moveTo>
                <a:lnTo>
                  <a:pt x="5208651" y="215814"/>
                </a:lnTo>
                <a:lnTo>
                  <a:pt x="5208651" y="295392"/>
                </a:lnTo>
                <a:lnTo>
                  <a:pt x="0" y="443046"/>
                </a:lnTo>
                <a:lnTo>
                  <a:pt x="0" y="590699"/>
                </a:lnTo>
                <a:lnTo>
                  <a:pt x="0" y="852011"/>
                </a:lnTo>
              </a:path>
            </a:pathLst>
          </a:custGeom>
          <a:noFill/>
          <a:ln w="12700">
            <a:solidFill>
              <a:srgbClr val="333333"/>
            </a:solidFill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112156" y="11499562"/>
            <a:ext cx="972312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1">
                <a:solidFill>
                  <a:srgbClr val="333333"/>
                </a:solidFill>
              </a:rPr>
              <a:t>telemetry + control</a:t>
            </a:r>
          </a:p>
        </p:txBody>
      </p:sp>
      <p:sp>
        <p:nvSpPr>
          <p:cNvPr id="121" name="Freeform 120"/>
          <p:cNvSpPr/>
          <p:nvPr/>
        </p:nvSpPr>
        <p:spPr>
          <a:xfrm>
            <a:off x="5797581" y="14410086"/>
            <a:ext cx="1685163" cy="556641"/>
          </a:xfrm>
          <a:custGeom>
            <a:avLst/>
            <a:gdLst/>
            <a:ahLst/>
            <a:cxnLst/>
            <a:rect l="l" t="t" r="r" b="b"/>
            <a:pathLst>
              <a:path w="1685163" h="556641">
                <a:moveTo>
                  <a:pt x="1685163" y="0"/>
                </a:moveTo>
                <a:lnTo>
                  <a:pt x="1685163" y="283998"/>
                </a:lnTo>
                <a:lnTo>
                  <a:pt x="0" y="431675"/>
                </a:lnTo>
                <a:lnTo>
                  <a:pt x="0" y="556641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092285" y="14668863"/>
            <a:ext cx="1095756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1">
                <a:solidFill>
                  <a:srgbClr val="333333"/>
                </a:solidFill>
              </a:rPr>
              <a:t>audit egress (batched)</a:t>
            </a:r>
          </a:p>
        </p:txBody>
      </p:sp>
      <p:sp>
        <p:nvSpPr>
          <p:cNvPr id="123" name="Freeform 122"/>
          <p:cNvSpPr/>
          <p:nvPr/>
        </p:nvSpPr>
        <p:spPr>
          <a:xfrm>
            <a:off x="4867846" y="11229403"/>
            <a:ext cx="4341019" cy="920115"/>
          </a:xfrm>
          <a:custGeom>
            <a:avLst/>
            <a:gdLst/>
            <a:ahLst/>
            <a:cxnLst/>
            <a:rect l="l" t="t" r="r" b="b"/>
            <a:pathLst>
              <a:path w="4341019" h="920115">
                <a:moveTo>
                  <a:pt x="4341019" y="0"/>
                </a:moveTo>
                <a:lnTo>
                  <a:pt x="4341019" y="215859"/>
                </a:lnTo>
                <a:lnTo>
                  <a:pt x="4341019" y="295357"/>
                </a:lnTo>
                <a:lnTo>
                  <a:pt x="0" y="443035"/>
                </a:lnTo>
                <a:lnTo>
                  <a:pt x="0" y="590714"/>
                </a:lnTo>
                <a:lnTo>
                  <a:pt x="0" y="920115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5171027" y="12512992"/>
            <a:ext cx="1654492" cy="1265206"/>
          </a:xfrm>
          <a:custGeom>
            <a:avLst/>
            <a:gdLst/>
            <a:ahLst/>
            <a:cxnLst/>
            <a:rect l="l" t="t" r="r" b="b"/>
            <a:pathLst>
              <a:path w="1654492" h="1265206">
                <a:moveTo>
                  <a:pt x="0" y="0"/>
                </a:moveTo>
                <a:lnTo>
                  <a:pt x="626556" y="352107"/>
                </a:lnTo>
                <a:lnTo>
                  <a:pt x="626556" y="431688"/>
                </a:lnTo>
                <a:lnTo>
                  <a:pt x="626556" y="647532"/>
                </a:lnTo>
                <a:lnTo>
                  <a:pt x="626556" y="863376"/>
                </a:lnTo>
                <a:lnTo>
                  <a:pt x="1654492" y="1265206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5187983" y="12953542"/>
            <a:ext cx="1219200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1">
                <a:solidFill>
                  <a:srgbClr val="333333"/>
                </a:solidFill>
              </a:rPr>
              <a:t>handshake → INVESTIGATION</a:t>
            </a:r>
          </a:p>
        </p:txBody>
      </p:sp>
      <p:sp>
        <p:nvSpPr>
          <p:cNvPr id="126" name="Freeform 125"/>
          <p:cNvSpPr/>
          <p:nvPr/>
        </p:nvSpPr>
        <p:spPr>
          <a:xfrm>
            <a:off x="2503360" y="10070687"/>
            <a:ext cx="7318439" cy="968121"/>
          </a:xfrm>
          <a:custGeom>
            <a:avLst/>
            <a:gdLst/>
            <a:ahLst/>
            <a:cxnLst/>
            <a:rect l="l" t="t" r="r" b="b"/>
            <a:pathLst>
              <a:path w="7318439" h="968121">
                <a:moveTo>
                  <a:pt x="0" y="0"/>
                </a:moveTo>
                <a:lnTo>
                  <a:pt x="0" y="147638"/>
                </a:lnTo>
                <a:lnTo>
                  <a:pt x="0" y="227218"/>
                </a:lnTo>
                <a:lnTo>
                  <a:pt x="0" y="374856"/>
                </a:lnTo>
                <a:lnTo>
                  <a:pt x="0" y="522495"/>
                </a:lnTo>
                <a:lnTo>
                  <a:pt x="0" y="602074"/>
                </a:lnTo>
                <a:lnTo>
                  <a:pt x="7318439" y="968121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2037778" y="10420302"/>
            <a:ext cx="931163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1">
                <a:solidFill>
                  <a:srgbClr val="333333"/>
                </a:solidFill>
              </a:rPr>
              <a:t>engineering laptop</a:t>
            </a:r>
          </a:p>
        </p:txBody>
      </p:sp>
      <p:sp>
        <p:nvSpPr>
          <p:cNvPr id="128" name="Freeform 127"/>
          <p:cNvSpPr/>
          <p:nvPr/>
        </p:nvSpPr>
        <p:spPr>
          <a:xfrm>
            <a:off x="3565588" y="10070687"/>
            <a:ext cx="14051375" cy="978027"/>
          </a:xfrm>
          <a:custGeom>
            <a:avLst/>
            <a:gdLst/>
            <a:ahLst/>
            <a:cxnLst/>
            <a:rect l="l" t="t" r="r" b="b"/>
            <a:pathLst>
              <a:path w="14051375" h="978027">
                <a:moveTo>
                  <a:pt x="0" y="0"/>
                </a:moveTo>
                <a:lnTo>
                  <a:pt x="0" y="147682"/>
                </a:lnTo>
                <a:lnTo>
                  <a:pt x="0" y="227195"/>
                </a:lnTo>
                <a:lnTo>
                  <a:pt x="0" y="374877"/>
                </a:lnTo>
                <a:lnTo>
                  <a:pt x="0" y="522560"/>
                </a:lnTo>
                <a:lnTo>
                  <a:pt x="0" y="602073"/>
                </a:lnTo>
                <a:lnTo>
                  <a:pt x="14051375" y="978027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3100006" y="10420346"/>
            <a:ext cx="931163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1">
                <a:solidFill>
                  <a:srgbClr val="333333"/>
                </a:solidFill>
              </a:rPr>
              <a:t>local service tool</a:t>
            </a:r>
          </a:p>
        </p:txBody>
      </p:sp>
      <p:sp>
        <p:nvSpPr>
          <p:cNvPr id="130" name="Freeform 129"/>
          <p:cNvSpPr/>
          <p:nvPr/>
        </p:nvSpPr>
        <p:spPr>
          <a:xfrm>
            <a:off x="974312" y="10138886"/>
            <a:ext cx="7701343" cy="895159"/>
          </a:xfrm>
          <a:custGeom>
            <a:avLst/>
            <a:gdLst/>
            <a:ahLst/>
            <a:cxnLst/>
            <a:rect l="l" t="t" r="r" b="b"/>
            <a:pathLst>
              <a:path w="7701343" h="895159">
                <a:moveTo>
                  <a:pt x="63921" y="0"/>
                </a:moveTo>
                <a:lnTo>
                  <a:pt x="0" y="79490"/>
                </a:lnTo>
                <a:lnTo>
                  <a:pt x="0" y="159070"/>
                </a:lnTo>
                <a:lnTo>
                  <a:pt x="0" y="306681"/>
                </a:lnTo>
                <a:lnTo>
                  <a:pt x="0" y="454383"/>
                </a:lnTo>
                <a:lnTo>
                  <a:pt x="0" y="533962"/>
                </a:lnTo>
                <a:lnTo>
                  <a:pt x="7701343" y="895159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11600" y="10420358"/>
            <a:ext cx="725424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1">
                <a:solidFill>
                  <a:srgbClr val="333333"/>
                </a:solidFill>
              </a:rPr>
              <a:t>redundant WAN</a:t>
            </a:r>
          </a:p>
        </p:txBody>
      </p:sp>
      <p:sp>
        <p:nvSpPr>
          <p:cNvPr id="132" name="Freeform 131"/>
          <p:cNvSpPr/>
          <p:nvPr/>
        </p:nvSpPr>
        <p:spPr>
          <a:xfrm>
            <a:off x="12642056" y="11192065"/>
            <a:ext cx="4997577" cy="1083374"/>
          </a:xfrm>
          <a:custGeom>
            <a:avLst/>
            <a:gdLst/>
            <a:ahLst/>
            <a:cxnLst/>
            <a:rect l="l" t="t" r="r" b="b"/>
            <a:pathLst>
              <a:path w="4997577" h="1083374">
                <a:moveTo>
                  <a:pt x="4997577" y="0"/>
                </a:moveTo>
                <a:lnTo>
                  <a:pt x="4313908" y="253076"/>
                </a:lnTo>
                <a:lnTo>
                  <a:pt x="4313908" y="332596"/>
                </a:lnTo>
                <a:lnTo>
                  <a:pt x="4313908" y="480368"/>
                </a:lnTo>
                <a:lnTo>
                  <a:pt x="4313908" y="628032"/>
                </a:lnTo>
                <a:lnTo>
                  <a:pt x="0" y="1083374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8346090" y="6378892"/>
            <a:ext cx="2689003" cy="1170337"/>
          </a:xfrm>
          <a:custGeom>
            <a:avLst/>
            <a:gdLst/>
            <a:ahLst/>
            <a:cxnLst/>
            <a:rect l="l" t="t" r="r" b="b"/>
            <a:pathLst>
              <a:path w="2689003" h="1170337">
                <a:moveTo>
                  <a:pt x="2689003" y="0"/>
                </a:moveTo>
                <a:lnTo>
                  <a:pt x="2502117" y="284041"/>
                </a:lnTo>
                <a:lnTo>
                  <a:pt x="2502117" y="363507"/>
                </a:lnTo>
                <a:lnTo>
                  <a:pt x="2502117" y="442972"/>
                </a:lnTo>
                <a:lnTo>
                  <a:pt x="2502117" y="590669"/>
                </a:lnTo>
                <a:lnTo>
                  <a:pt x="0" y="1170337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4" name="Connector 133"/>
          <p:cNvCxnSpPr/>
          <p:nvPr/>
        </p:nvCxnSpPr>
        <p:spPr>
          <a:xfrm>
            <a:off x="21546693" y="12944665"/>
            <a:ext cx="0" cy="511207"/>
          </a:xfrm>
          <a:prstGeom prst="line">
            <a:avLst/>
          </a:prstGeom>
          <a:ln w="12700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Freeform 134"/>
          <p:cNvSpPr/>
          <p:nvPr/>
        </p:nvSpPr>
        <p:spPr>
          <a:xfrm>
            <a:off x="18894647" y="6047803"/>
            <a:ext cx="10813066" cy="67151"/>
          </a:xfrm>
          <a:custGeom>
            <a:avLst/>
            <a:gdLst/>
            <a:ahLst/>
            <a:cxnLst/>
            <a:rect l="l" t="t" r="r" b="b"/>
            <a:pathLst>
              <a:path w="10813066" h="67151">
                <a:moveTo>
                  <a:pt x="10813066" y="0"/>
                </a:moveTo>
                <a:lnTo>
                  <a:pt x="0" y="67151"/>
                </a:lnTo>
              </a:path>
            </a:pathLst>
          </a:custGeom>
          <a:noFill/>
          <a:ln w="12700">
            <a:solidFill>
              <a:srgbClr val="33333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6655069" y="1017174"/>
            <a:ext cx="508825" cy="204501"/>
          </a:xfrm>
          <a:prstGeom prst="rect">
            <a:avLst/>
          </a:prstGeom>
          <a:solidFill>
            <a:srgbClr val="FEE2E2"/>
          </a:solidFill>
          <a:ln w="2540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230 kV in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5637227" y="1528286"/>
            <a:ext cx="911352" cy="340804"/>
          </a:xfrm>
          <a:prstGeom prst="rect">
            <a:avLst/>
          </a:prstGeom>
          <a:solidFill>
            <a:srgbClr val="FEE2E2"/>
          </a:solidFill>
          <a:ln w="2540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Line bay
SA·DS·CB·CT·VT·ES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46297976" y="2028158"/>
            <a:ext cx="984980" cy="340804"/>
          </a:xfrm>
          <a:prstGeom prst="rect">
            <a:avLst/>
          </a:prstGeom>
          <a:solidFill>
            <a:srgbClr val="FEE2E2"/>
          </a:solidFill>
          <a:ln w="2540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HV bus
double bus + coupler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46010512" y="2527935"/>
            <a:ext cx="603789" cy="340804"/>
          </a:xfrm>
          <a:prstGeom prst="rect">
            <a:avLst/>
          </a:prstGeom>
          <a:solidFill>
            <a:srgbClr val="FEE2E2"/>
          </a:solidFill>
          <a:ln w="2540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Xfmr bay
CT/CB (HV)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42310240" y="3027807"/>
            <a:ext cx="1257776" cy="340804"/>
          </a:xfrm>
          <a:prstGeom prst="rect">
            <a:avLst/>
          </a:prstGeom>
          <a:solidFill>
            <a:srgbClr val="FDE68A"/>
          </a:solidFill>
          <a:ln w="381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Power xfmr
230/69 kV · 100 MVA · OLTC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43470956" y="3822954"/>
            <a:ext cx="576167" cy="340804"/>
          </a:xfrm>
          <a:prstGeom prst="rect">
            <a:avLst/>
          </a:prstGeom>
          <a:solidFill>
            <a:srgbClr val="FED7AA"/>
          </a:solidFill>
          <a:ln w="25400">
            <a:solidFill>
              <a:srgbClr val="9A34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LV side
CB/CT (LV)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3852433" y="4322730"/>
            <a:ext cx="984980" cy="340804"/>
          </a:xfrm>
          <a:prstGeom prst="rect">
            <a:avLst/>
          </a:prstGeom>
          <a:solidFill>
            <a:srgbClr val="FED7AA"/>
          </a:solidFill>
          <a:ln w="25400">
            <a:solidFill>
              <a:srgbClr val="9A34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MV bus
double bus + coupler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44050267" y="4902136"/>
            <a:ext cx="589311" cy="340804"/>
          </a:xfrm>
          <a:prstGeom prst="rect">
            <a:avLst/>
          </a:prstGeom>
          <a:solidFill>
            <a:srgbClr val="FED7AA"/>
          </a:solidFill>
          <a:ln w="25400">
            <a:solidFill>
              <a:srgbClr val="9A34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Feeder bay
CT·CB·DS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43833287" y="6038088"/>
            <a:ext cx="1136904" cy="204501"/>
          </a:xfrm>
          <a:prstGeom prst="rect">
            <a:avLst/>
          </a:prstGeom>
          <a:solidFill>
            <a:srgbClr val="FED7AA"/>
          </a:solidFill>
          <a:ln w="25400">
            <a:solidFill>
              <a:srgbClr val="9A34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69 kV out → distribution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34632614" y="948975"/>
            <a:ext cx="481679" cy="340804"/>
          </a:xfrm>
          <a:prstGeom prst="rect">
            <a:avLst/>
          </a:prstGeom>
          <a:solidFill>
            <a:srgbClr val="FDF2F8"/>
          </a:solidFill>
          <a:ln w="12700">
            <a:solidFill>
              <a:srgbClr val="9D1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DGA
oil gases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35239261" y="948975"/>
            <a:ext cx="946975" cy="340804"/>
          </a:xfrm>
          <a:prstGeom prst="rect">
            <a:avLst/>
          </a:prstGeom>
          <a:solidFill>
            <a:srgbClr val="FDF2F8"/>
          </a:solidFill>
          <a:ln w="12700">
            <a:solidFill>
              <a:srgbClr val="9D1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PD
UHF+acoustic+HFCT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36311205" y="948975"/>
            <a:ext cx="606837" cy="340804"/>
          </a:xfrm>
          <a:prstGeom prst="rect">
            <a:avLst/>
          </a:prstGeom>
          <a:solidFill>
            <a:srgbClr val="FDF2F8"/>
          </a:solidFill>
          <a:ln w="12700">
            <a:solidFill>
              <a:srgbClr val="9D1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Bushing tap
C · tan δ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37042915" y="948975"/>
            <a:ext cx="583120" cy="340804"/>
          </a:xfrm>
          <a:prstGeom prst="rect">
            <a:avLst/>
          </a:prstGeom>
          <a:solidFill>
            <a:srgbClr val="FDF2F8"/>
          </a:solidFill>
          <a:ln w="12700">
            <a:solidFill>
              <a:srgbClr val="9D1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Vibration /
acoustic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37751004" y="948975"/>
            <a:ext cx="829437" cy="340804"/>
          </a:xfrm>
          <a:prstGeom prst="rect">
            <a:avLst/>
          </a:prstGeom>
          <a:solidFill>
            <a:srgbClr val="FDF2F8"/>
          </a:solidFill>
          <a:ln w="12700">
            <a:solidFill>
              <a:srgbClr val="9D1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Top-oil + winding
RTD · FBG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38705409" y="1017174"/>
            <a:ext cx="688657" cy="204501"/>
          </a:xfrm>
          <a:prstGeom prst="rect">
            <a:avLst/>
          </a:prstGeom>
          <a:solidFill>
            <a:srgbClr val="FDF2F8"/>
          </a:solidFill>
          <a:ln w="12700">
            <a:solidFill>
              <a:srgbClr val="9D1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OLTC monitor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39519034" y="1017174"/>
            <a:ext cx="596169" cy="204501"/>
          </a:xfrm>
          <a:prstGeom prst="rect">
            <a:avLst/>
          </a:prstGeom>
          <a:solidFill>
            <a:srgbClr val="FDF2F8"/>
          </a:solidFill>
          <a:ln w="12700">
            <a:solidFill>
              <a:srgbClr val="9D1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SF6 density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40240172" y="948975"/>
            <a:ext cx="751617" cy="340804"/>
          </a:xfrm>
          <a:prstGeom prst="rect">
            <a:avLst/>
          </a:prstGeom>
          <a:solidFill>
            <a:srgbClr val="FDF2F8"/>
          </a:solidFill>
          <a:ln w="12700">
            <a:solidFill>
              <a:srgbClr val="9D1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Station battery
V · IR · ripple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41116757" y="948975"/>
            <a:ext cx="727710" cy="340804"/>
          </a:xfrm>
          <a:prstGeom prst="rect">
            <a:avLst/>
          </a:prstGeom>
          <a:solidFill>
            <a:srgbClr val="FDF2F8"/>
          </a:solidFill>
          <a:ln w="12700">
            <a:solidFill>
              <a:srgbClr val="9D1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Ctrl-house env
T · RH · door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32308228" y="4902136"/>
            <a:ext cx="857916" cy="340804"/>
          </a:xfrm>
          <a:prstGeom prst="rect">
            <a:avLst/>
          </a:prstGeom>
          <a:solidFill>
            <a:srgbClr val="FCE7F3"/>
          </a:solidFill>
          <a:ln w="12700">
            <a:solidFill>
              <a:srgbClr val="BE18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IP dome / PTZ
PoE · ONVIF/RTSP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33291113" y="4902136"/>
            <a:ext cx="847915" cy="340804"/>
          </a:xfrm>
          <a:prstGeom prst="rect">
            <a:avLst/>
          </a:prstGeom>
          <a:solidFill>
            <a:srgbClr val="FCE7F3"/>
          </a:solidFill>
          <a:ln w="12700">
            <a:solidFill>
              <a:srgbClr val="BE18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Thermal IR cam
ONVIF + GenICam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29826966" y="5969889"/>
            <a:ext cx="948213" cy="340804"/>
          </a:xfrm>
          <a:prstGeom prst="rect">
            <a:avLst/>
          </a:prstGeom>
          <a:solidFill>
            <a:srgbClr val="FCE7F3"/>
          </a:solidFill>
          <a:ln w="12700">
            <a:solidFill>
              <a:srgbClr val="BE18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Fence-line intrusion
fiber / piezo cable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30900052" y="5969889"/>
            <a:ext cx="982884" cy="340804"/>
          </a:xfrm>
          <a:prstGeom prst="rect">
            <a:avLst/>
          </a:prstGeom>
          <a:solidFill>
            <a:srgbClr val="FCE7F3"/>
          </a:solidFill>
          <a:ln w="12700">
            <a:solidFill>
              <a:srgbClr val="BE18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Gate access reader
RFID · OSDP (RS-485)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32007905" y="5969889"/>
            <a:ext cx="960024" cy="340804"/>
          </a:xfrm>
          <a:prstGeom prst="rect">
            <a:avLst/>
          </a:prstGeom>
          <a:solidFill>
            <a:srgbClr val="FCE7F3"/>
          </a:solidFill>
          <a:ln w="12700">
            <a:solidFill>
              <a:srgbClr val="BE18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Door/window +
motion PIR · tamper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3834324" y="5969889"/>
            <a:ext cx="806291" cy="340804"/>
          </a:xfrm>
          <a:prstGeom prst="rect">
            <a:avLst/>
          </a:prstGeom>
          <a:solidFill>
            <a:srgbClr val="FCE7F3"/>
          </a:solidFill>
          <a:ln w="12700">
            <a:solidFill>
              <a:srgbClr val="BE18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Local NVR / VMS
H.264/H.265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27323796" y="5969889"/>
            <a:ext cx="862869" cy="340804"/>
          </a:xfrm>
          <a:prstGeom prst="rect">
            <a:avLst/>
          </a:prstGeom>
          <a:solidFill>
            <a:srgbClr val="DBEAFE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MU line
SV 9-2LE + GOOSE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26635900" y="5969889"/>
            <a:ext cx="562832" cy="340804"/>
          </a:xfrm>
          <a:prstGeom prst="rect">
            <a:avLst/>
          </a:prstGeom>
          <a:solidFill>
            <a:srgbClr val="DBEAFE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MU xfmr
HV + LV SV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28311633" y="5969889"/>
            <a:ext cx="453390" cy="340804"/>
          </a:xfrm>
          <a:prstGeom prst="rect">
            <a:avLst/>
          </a:prstGeom>
          <a:solidFill>
            <a:srgbClr val="DBEAFE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MU bus
3φ V SV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25898856" y="5969889"/>
            <a:ext cx="612171" cy="340804"/>
          </a:xfrm>
          <a:prstGeom prst="rect">
            <a:avLst/>
          </a:prstGeom>
          <a:solidFill>
            <a:srgbClr val="DBEAFE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MU feeder
SV + GOOSE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28212097" y="9661779"/>
            <a:ext cx="779526" cy="340804"/>
          </a:xfrm>
          <a:prstGeom prst="rect">
            <a:avLst/>
          </a:prstGeom>
          <a:solidFill>
            <a:srgbClr val="DBEAFE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PIU line
CB/DS/ES + trip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27367039" y="9661779"/>
            <a:ext cx="720090" cy="340804"/>
          </a:xfrm>
          <a:prstGeom prst="rect">
            <a:avLst/>
          </a:prstGeom>
          <a:solidFill>
            <a:srgbClr val="DBEAFE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PIU xfmr
OLTC · cooling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26675238" y="9729882"/>
            <a:ext cx="566832" cy="204501"/>
          </a:xfrm>
          <a:prstGeom prst="rect">
            <a:avLst/>
          </a:prstGeom>
          <a:solidFill>
            <a:srgbClr val="DBEAFE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PIU feeder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22469094" y="7389876"/>
            <a:ext cx="1272254" cy="613410"/>
          </a:xfrm>
          <a:prstGeom prst="rect">
            <a:avLst/>
          </a:prstGeom>
          <a:solidFill>
            <a:srgbClr val="F3E8FF"/>
          </a:solidFill>
          <a:ln w="254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Process bus
L2 Ethernet · PRP / HSR · SV (9-2 LE) + GOOSE + PTP (9-3)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24792717" y="8650795"/>
            <a:ext cx="656939" cy="340804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21
line distance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24170449" y="8650795"/>
            <a:ext cx="497300" cy="340804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87T
xfmr diff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23467218" y="8650795"/>
            <a:ext cx="578167" cy="340804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87B
busbar diff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22766750" y="8650795"/>
            <a:ext cx="575595" cy="340804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50/51/51N
OC / EF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21779579" y="8650795"/>
            <a:ext cx="862203" cy="340804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Bay controller
interlocking · SOE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3359860" y="9593580"/>
            <a:ext cx="1272254" cy="477107"/>
          </a:xfrm>
          <a:prstGeom prst="rect">
            <a:avLst/>
          </a:prstGeom>
          <a:solidFill>
            <a:srgbClr val="F3E8FF"/>
          </a:solidFill>
          <a:ln w="254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Station bus
Ethernet (PRP) · MMS + GOOSE + PTP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12520517" y="10956798"/>
            <a:ext cx="600837" cy="204501"/>
          </a:xfrm>
          <a:prstGeom prst="rect">
            <a:avLst/>
          </a:prstGeom>
          <a:solidFill>
            <a:srgbClr val="E0E7FF"/>
          </a:solidFill>
          <a:ln w="1270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Station HMI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11800903" y="10888599"/>
            <a:ext cx="594645" cy="340804"/>
          </a:xfrm>
          <a:prstGeom prst="rect">
            <a:avLst/>
          </a:prstGeom>
          <a:solidFill>
            <a:srgbClr val="E0E7FF"/>
          </a:solidFill>
          <a:ln w="1270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Station ctrl
logic / seq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10729436" y="10888599"/>
            <a:ext cx="946499" cy="340804"/>
          </a:xfrm>
          <a:prstGeom prst="rect">
            <a:avLst/>
          </a:prstGeom>
          <a:solidFill>
            <a:srgbClr val="E0E7FF"/>
          </a:solidFill>
          <a:ln w="1270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SCADA gateway
DNP3 / 60870-5-104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9844468" y="10888599"/>
            <a:ext cx="759999" cy="340804"/>
          </a:xfrm>
          <a:prstGeom prst="rect">
            <a:avLst/>
          </a:prstGeom>
          <a:solidFill>
            <a:srgbClr val="E0E7FF"/>
          </a:solidFill>
          <a:ln w="1270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Engineering WS
SCL·CID·IID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10779156" y="5901785"/>
            <a:ext cx="826103" cy="477107"/>
          </a:xfrm>
          <a:prstGeom prst="rect">
            <a:avLst/>
          </a:prstGeom>
          <a:solidFill>
            <a:srgbClr val="E0E7FF"/>
          </a:solidFill>
          <a:ln w="1270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PTP grandmaster
GPS-disciplined
1588v2 / 9-3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8698230" y="10888599"/>
            <a:ext cx="1021270" cy="340804"/>
          </a:xfrm>
          <a:prstGeom prst="rect">
            <a:avLst/>
          </a:prstGeom>
          <a:solidFill>
            <a:srgbClr val="E0E7FF"/>
          </a:solidFill>
          <a:ln w="1270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Remote-access router
corp WAN · jump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20994528" y="10888599"/>
            <a:ext cx="1104423" cy="340804"/>
          </a:xfrm>
          <a:prstGeom prst="rect">
            <a:avLst/>
          </a:prstGeom>
          <a:solidFill>
            <a:srgbClr val="FEF3C7"/>
          </a:solidFill>
          <a:ln w="381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Process-bus tap
SPAN (RO) · SV + GOOSE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19597306" y="10820400"/>
            <a:ext cx="1272254" cy="477107"/>
          </a:xfrm>
          <a:prstGeom prst="rect">
            <a:avLst/>
          </a:prstGeom>
          <a:solidFill>
            <a:srgbClr val="FEF3C7"/>
          </a:solidFill>
          <a:ln w="381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Station-bus tap
SPAN (RO) · MMS + SOE + GOOSE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37426201" y="10752296"/>
            <a:ext cx="1272254" cy="613410"/>
          </a:xfrm>
          <a:prstGeom prst="rect">
            <a:avLst/>
          </a:prstGeom>
          <a:solidFill>
            <a:srgbClr val="FEF3C7"/>
          </a:solidFill>
          <a:ln w="381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Asset-cond aggregator
RS-485 · 4-20 mA+HART · Modbus TCP ·
DNP3 · 61850 MMS · SNMP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31745777" y="10752296"/>
            <a:ext cx="1272254" cy="613410"/>
          </a:xfrm>
          <a:prstGeom prst="rect">
            <a:avLst/>
          </a:prstGeom>
          <a:solidFill>
            <a:srgbClr val="FEF3C7"/>
          </a:solidFill>
          <a:ln w="381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Security aggregator
RTSP/ONVIF · OSDP · BACnet MS/TP ·
dry contacts · NVR API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15097887" y="10956798"/>
            <a:ext cx="550449" cy="204501"/>
          </a:xfrm>
          <a:prstGeom prst="rect">
            <a:avLst/>
          </a:prstGeom>
          <a:solidFill>
            <a:srgbClr val="FEF3C7"/>
          </a:solidFill>
          <a:ln w="381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mcp_edge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15773209" y="10956798"/>
            <a:ext cx="817340" cy="204501"/>
          </a:xfrm>
          <a:prstGeom prst="rect">
            <a:avLst/>
          </a:prstGeom>
          <a:solidFill>
            <a:srgbClr val="FEF3C7"/>
          </a:solidFill>
          <a:ln w="381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llm_orchestrator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16715613" y="10956798"/>
            <a:ext cx="799147" cy="204501"/>
          </a:xfrm>
          <a:prstGeom prst="rect">
            <a:avLst/>
          </a:prstGeom>
          <a:solidFill>
            <a:srgbClr val="FEF3C7"/>
          </a:solidFill>
          <a:ln w="381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frontier_llm_api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17639633" y="10888599"/>
            <a:ext cx="718851" cy="340804"/>
          </a:xfrm>
          <a:prstGeom prst="rect">
            <a:avLst/>
          </a:prstGeom>
          <a:solidFill>
            <a:srgbClr val="FEF3C7"/>
          </a:solidFill>
          <a:ln w="381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seal_authority
« stub »</a:t>
            </a:r>
          </a:p>
        </p:txBody>
      </p:sp>
      <p:sp>
        <p:nvSpPr>
          <p:cNvPr id="188" name="Can 187"/>
          <p:cNvSpPr/>
          <p:nvPr/>
        </p:nvSpPr>
        <p:spPr>
          <a:xfrm>
            <a:off x="18362295" y="12145041"/>
            <a:ext cx="1170051" cy="395096"/>
          </a:xfrm>
          <a:prstGeom prst="can">
            <a:avLst>
              <a:gd name="adj" fmla="val 15000"/>
            </a:avLst>
          </a:prstGeom>
          <a:solidFill>
            <a:srgbClr val="FEF3C7"/>
          </a:solidFill>
          <a:ln w="127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GPU Platform · frontier LLM · PCIe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21209031" y="12240387"/>
            <a:ext cx="675227" cy="204501"/>
          </a:xfrm>
          <a:prstGeom prst="rect">
            <a:avLst/>
          </a:prstGeom>
          <a:solidFill>
            <a:srgbClr val="FEF3C7"/>
          </a:solidFill>
          <a:ln w="381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dsp_frontend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35062953" y="12240387"/>
            <a:ext cx="721709" cy="204501"/>
          </a:xfrm>
          <a:prstGeom prst="rect">
            <a:avLst/>
          </a:prstGeom>
          <a:solidFill>
            <a:srgbClr val="FEF3C7"/>
          </a:solidFill>
          <a:ln w="381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token_emitter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19832383" y="12240387"/>
            <a:ext cx="802005" cy="204501"/>
          </a:xfrm>
          <a:prstGeom prst="rect">
            <a:avLst/>
          </a:prstGeom>
          <a:solidFill>
            <a:srgbClr val="FEF3C7"/>
          </a:solidFill>
          <a:ln w="381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grammar_parser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37178742" y="12240387"/>
            <a:ext cx="875823" cy="204501"/>
          </a:xfrm>
          <a:prstGeom prst="rect">
            <a:avLst/>
          </a:prstGeom>
          <a:solidFill>
            <a:srgbClr val="FEF3C7"/>
          </a:solidFill>
          <a:ln w="381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anomaly_detector</a:t>
            </a:r>
          </a:p>
        </p:txBody>
      </p:sp>
      <p:sp>
        <p:nvSpPr>
          <p:cNvPr id="193" name="Can 192"/>
          <p:cNvSpPr/>
          <p:nvPr/>
        </p:nvSpPr>
        <p:spPr>
          <a:xfrm>
            <a:off x="38179533" y="12225051"/>
            <a:ext cx="594455" cy="235077"/>
          </a:xfrm>
          <a:prstGeom prst="can">
            <a:avLst>
              <a:gd name="adj" fmla="val 15000"/>
            </a:avLst>
          </a:prstGeom>
          <a:solidFill>
            <a:srgbClr val="FEF3C7"/>
          </a:solidFill>
          <a:ln w="127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capsule_store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38898957" y="12240387"/>
            <a:ext cx="527113" cy="204501"/>
          </a:xfrm>
          <a:prstGeom prst="rect">
            <a:avLst/>
          </a:prstGeom>
          <a:solidFill>
            <a:srgbClr val="FEF3C7"/>
          </a:solidFill>
          <a:ln w="381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voice_tag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6846665" y="13660374"/>
            <a:ext cx="1272254" cy="749712"/>
          </a:xfrm>
          <a:prstGeom prst="rect">
            <a:avLst/>
          </a:prstGeom>
          <a:solidFill>
            <a:srgbClr val="CFFAFE"/>
          </a:solidFill>
          <a:ln w="25400">
            <a:solidFill>
              <a:srgbClr val="155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SME workstation
PyQt6 UI
State Viewer · bus emulator ·
LLM loop · session console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782955" y="9525476"/>
            <a:ext cx="1003744" cy="613410"/>
          </a:xfrm>
          <a:prstGeom prst="rect">
            <a:avLst/>
          </a:prstGeom>
          <a:solidFill>
            <a:srgbClr val="ECFEFF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Cellular modem
4G LTE / 5G NSA
APN + IPsec VPN
MQTT / HTTPS uplink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2015394" y="9593580"/>
            <a:ext cx="975836" cy="477107"/>
          </a:xfrm>
          <a:prstGeom prst="rect">
            <a:avLst/>
          </a:prstGeom>
          <a:solidFill>
            <a:srgbClr val="ECFEFF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Wi-Fi AP
802.11ac · WPA2-Ent
(engineering only)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3116199" y="9593580"/>
            <a:ext cx="898779" cy="477107"/>
          </a:xfrm>
          <a:prstGeom prst="rect">
            <a:avLst/>
          </a:prstGeom>
          <a:solidFill>
            <a:srgbClr val="ECFEFF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Bluetooth LE
field-engineer tool
(pairing-gated)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2069496" y="14989397"/>
            <a:ext cx="918876" cy="340804"/>
          </a:xfrm>
          <a:prstGeom prst="rect">
            <a:avLst/>
          </a:prstGeom>
          <a:solidFill>
            <a:srgbClr val="ECFEFF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SME phone notify
SMS / push call-out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5493543" y="12104084"/>
            <a:ext cx="1000982" cy="477107"/>
          </a:xfrm>
          <a:prstGeom prst="rect">
            <a:avLst/>
          </a:prstGeom>
          <a:solidFill>
            <a:srgbClr val="F1F5F9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Utility control centre
EMS / DMS / OMS
DNP3 / 60870-5-104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5353812" y="14989397"/>
            <a:ext cx="887634" cy="340804"/>
          </a:xfrm>
          <a:prstGeom prst="rect">
            <a:avLst/>
          </a:prstGeom>
          <a:solidFill>
            <a:srgbClr val="F1F5F9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Asset-mgmt portal
batch · NERC CIP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4367117" y="12172188"/>
            <a:ext cx="1001363" cy="340804"/>
          </a:xfrm>
          <a:prstGeom prst="rect">
            <a:avLst/>
          </a:prstGeom>
          <a:solidFill>
            <a:srgbClr val="F1F5F9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Remote SME (on-call)
secure tunnel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20910518" y="13455872"/>
            <a:ext cx="1272254" cy="1158716"/>
          </a:xfrm>
          <a:prstGeom prst="rect">
            <a:avLst/>
          </a:prstGeom>
          <a:solidFill>
            <a:srgbClr val="F1F5F9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Read-only by design.
Passive listener on both buses (SPAN/mirror);
never publishes GOOSE, never commands MMS,
never trips a breaker. Surfaces evidence to the SME.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11369802" y="11899582"/>
            <a:ext cx="1272254" cy="886015"/>
          </a:xfrm>
          <a:prstGeom prst="rect">
            <a:avLst/>
          </a:prstGeom>
          <a:solidFill>
            <a:srgbClr val="F1F5F9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Seal contract gates GPU power.
SEALED ⇄ AWAITING_SME ⇄ INVESTIGATION is the
SME flow. GPU unpowered in SEALED.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7073836" y="7117270"/>
            <a:ext cx="1272254" cy="1158716"/>
          </a:xfrm>
          <a:prstGeom prst="rect">
            <a:avLst/>
          </a:prstGeom>
          <a:solidFill>
            <a:srgbClr val="F1F5F9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One time domain.
The substation PTP grandmaster disciplines both
buses AND the edge compute's signal-plane clock
(origin_ns sealed at ingest).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17622393" y="5697283"/>
            <a:ext cx="1272254" cy="886015"/>
          </a:xfrm>
          <a:prstGeom prst="rect">
            <a:avLst/>
          </a:prstGeom>
          <a:solidFill>
            <a:srgbClr val="F1F5F9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700" b="1">
                <a:solidFill>
                  <a:srgbClr val="333333"/>
                </a:solidFill>
              </a:rPr>
              <a:t>Physical-security feeds are read-only too —
capture + correlate, never command. Camera + PD
cross-correlation is a target Stage 7e+ use case.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